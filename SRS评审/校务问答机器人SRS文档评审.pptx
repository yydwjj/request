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custDataLst>
    <p:tags r:id="rId2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0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4.xml"/><Relationship Id="rId7" Type="http://schemas.openxmlformats.org/officeDocument/2006/relationships/image" Target="../media/image11.png"/><Relationship Id="rId6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tags" Target="../tags/tag2.xml"/><Relationship Id="rId3" Type="http://schemas.openxmlformats.org/officeDocument/2006/relationships/image" Target="../media/image9.png"/><Relationship Id="rId2" Type="http://schemas.openxmlformats.org/officeDocument/2006/relationships/tags" Target="../tags/tag1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3.png"/><Relationship Id="rId10" Type="http://schemas.openxmlformats.org/officeDocument/2006/relationships/tags" Target="../tags/tag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7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6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校务问答机器人SRS文档评审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773D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G07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6738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7453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SRS文档完整性与用户需求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数据字典与ER图分析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系统实现与运行环境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用户需求来源与链接关系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SRS Baseline与配置管理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24250" y="38171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3990975" y="3888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需求可行性分析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SRS文档完整性与用户需求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773D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Vision &amp; Scope文档审查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文档提交确认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确认Vision &amp; Scope文档已提交，反映客户真实意愿，涵盖项目愿景与范围界定，确保方向正确。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需求覆盖检验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审查SRS文档，确保功能与非功能需求完整覆盖，达到项目下限要求，无遗漏关键需求。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用户意愿体现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验证文档是否准确反映客户需求，通过需求收集与分析，确保项目目标与用户期望一致。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范围边界清晰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检查范围边界定义是否明确，排除无关需求，聚焦核心功能，避免项目范围蔓延。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SRS内容完整性评估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功能需求覆盖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581150"/>
            <a:ext cx="1881187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SRS文档全面描述了校务问答机器人的功能需求，包括问答、互动与管理三大模块，确保了系统的核心功能与辅助功能均得到了充分的规划与设计。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91313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非功能需求考量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91313" y="1581150"/>
            <a:ext cx="1881187" cy="1257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文档不仅关注功能需求，还深入探讨了性能、设计约束、软件属性等非功能需求，如响应时间、并发能力、可维护性与可扩展性，确保系统在实际运行中稳定可靠。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29125" y="30289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需求下限达标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29125" y="3276600"/>
            <a:ext cx="1881187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所有需求均达到了预定的下限标准，如问答响应时间不超过3秒，系统并发能力支持1000 QPS，保证了用户体验与系统效能。</a:t>
            </a:r>
            <a:endParaRPr lang="en-US" sz="1050" dirty="0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830829" cy="1260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r="44578" b="57263"/>
          <a:stretch>
            <a:fillRect/>
          </a:stretch>
        </p:blipFill>
        <p:spPr>
          <a:xfrm>
            <a:off x="0" y="1259840"/>
            <a:ext cx="2268320" cy="1260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7150" y="2628900"/>
            <a:ext cx="1953489" cy="1260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953260" y="1259840"/>
            <a:ext cx="2318824" cy="126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010410" y="2667000"/>
            <a:ext cx="2448678" cy="12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404495" y="74930"/>
            <a:ext cx="4969510" cy="1620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用户需求优先级排序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31594" y="114300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29125" y="17335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需求优先级概览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429125" y="1981200"/>
            <a:ext cx="1881187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系统需求按照利益、损失、费用和风险评分标准，对各功能模块进行量化评估，确保核心功能优先开发。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393781" y="114300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91313" y="17335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核心功能优先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91313" y="1981200"/>
            <a:ext cx="1881187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用户登录、问答核心功能、回答审核、用户管理等高优先级功能，保障系统基本运行与用户体验。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131594" y="300990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29125" y="36004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中等优先级功能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429125" y="384810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明确找哪个老师解决、评价反馈等功能，根据项目进度适时开发，平衡资源分配。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393781" y="3009900"/>
            <a:ext cx="476250" cy="4762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91313" y="36004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低优先级功能迭代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691313" y="3848100"/>
            <a:ext cx="1881187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多模态能力、吐槽功能、知识库导入等低优先级功能，考虑技术与资源限制，后续版本迭代中逐步完善。</a:t>
            </a:r>
            <a:endParaRPr lang="en-US" sz="1050" dirty="0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12655" r="15267"/>
          <a:stretch>
            <a:fillRect/>
          </a:stretch>
        </p:blipFill>
        <p:spPr>
          <a:xfrm>
            <a:off x="-147955" y="2133600"/>
            <a:ext cx="4472305" cy="2828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数据字典与ER图分析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773D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数据字典定义与准确性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数据字典构建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2479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详细定义了用户、问题、回答等实体，确保数据结构清晰，便于系统理解和处理。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字段枚举值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65500" y="22479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列举了user_type、answer_status等字段的可能值，增强了数据的一致性和可预测性。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30099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数据类型规范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32575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明确了每个字段的数据类型和长度，如question_id为UUID格式，保证数据的准确存储和检索。</a:t>
            </a:r>
            <a:endParaRPr lang="en-US" sz="1050" dirty="0"/>
          </a:p>
        </p:txBody>
      </p:sp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204470" y="2971800"/>
          <a:ext cx="2903220" cy="1696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3870"/>
                <a:gridCol w="483870"/>
                <a:gridCol w="483870"/>
                <a:gridCol w="483870"/>
                <a:gridCol w="483870"/>
                <a:gridCol w="483870"/>
              </a:tblGrid>
              <a:tr h="848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/>
                        <a:t>数据元素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/>
                        <a:t>名称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/>
                        <a:t>表示法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/>
                        <a:t>单位/格式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/>
                        <a:t>精确度/准确度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/>
                        <a:t>范围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</a:tr>
              <a:tr h="848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/>
                        <a:t>chat_id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/>
                        <a:t>聊天记录唯一标识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/>
                        <a:t>UUID 字符串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/>
                        <a:t>-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/>
                        <a:t>唯一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/>
                        <a:t>36位UUID格式</a:t>
                      </a:r>
                      <a:endParaRPr lang="en-US" altLang="en-US" sz="900"/>
                    </a:p>
                  </a:txBody>
                  <a:tcPr marL="123825" marR="123825" marT="57150" marB="57150" vert="horz" anchor="ctr" anchorCtr="0"/>
                </a:tc>
              </a:tr>
            </a:tbl>
          </a:graphicData>
        </a:graphic>
      </p:graphicFrame>
      <p:pic>
        <p:nvPicPr>
          <p:cNvPr id="38" name="图片 38" descr="mermaid-202559 1906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97550" y="285750"/>
            <a:ext cx="3346450" cy="4217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系统实现与运行环境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773D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实现环境概述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技术栈选择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576513"/>
            <a:ext cx="17145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选用Python/Django与Node.js/Express作为开发框架，结合MySQL 8.0与MongoDB 6.0数据库，实现高效稳定的服务端逻辑。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硬件配置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基于Intel Xeon处理器，配备64GB DDR5内存，采用NVMe SSD与RAID 10存储方案，确保高性能与数据冗余。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网络架构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利用Nginx与CDN优化网络通信，配合Kafka实现异步消息处理，提升系统响应速度与并发处理能力。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云平台适配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支持AWS EC2与Kubernetes集群部署，利用Ceph存储系统扩展数据存储，确保系统的可扩展性与高可用性。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运行环境配置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硬件资源配置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3295650"/>
            <a:ext cx="2413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服务器配置需满足：CPU 8核及以上，内存64GB，存储1TB NVMe SSD，网络带宽≥1Gbps。终端设备兼容性覆盖主流操作系统与浏览器。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65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软件环境搭建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365500" y="3295650"/>
            <a:ext cx="2413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依赖软件包括LLM服务、开发框架如Python/Django与Node.js/Express，以及数据库如MySQL 8.0与Redis。确保软件版本兼容与稳定。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9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网络与通信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159500" y="32956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采用TLS 1.3加密协议保障数据传输安全，WebSocket协议实现≤500ms的实时通信，确保用户交互流畅。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用户需求来源与链接关系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773D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770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1484" r="11484"/>
          <a:stretch>
            <a:fillRect/>
          </a:stretch>
        </p:blipFill>
        <p:spPr>
          <a:xfrm>
            <a:off x="0" y="0"/>
            <a:ext cx="9144000" cy="66770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21113" r="21113"/>
          <a:stretch>
            <a:fillRect/>
          </a:stretch>
        </p:blipFill>
        <p:spPr>
          <a:xfrm>
            <a:off x="0" y="0"/>
            <a:ext cx="3857625" cy="6677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需求来源标识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7675" y="1162050"/>
            <a:ext cx="2052637" cy="25479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10100" y="19431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需求源头追溯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610100" y="2233613"/>
            <a:ext cx="134778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确保每个需求都有明确的来源，如师生调研、政策文件、系统现状分析等，便于后期验证和变更管理。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10312" y="1162050"/>
            <a:ext cx="2052637" cy="25479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62738" y="19431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需求分类归档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62738" y="2233613"/>
            <a:ext cx="134778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按需求类别（功能、非功能）和优先级归档，建立需求索引，确保需求可追溯性和一致性。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57675" y="3709988"/>
            <a:ext cx="2052637" cy="27574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10100" y="4491038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需求文档引用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610100" y="4781550"/>
            <a:ext cx="1347788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在SRS文档中引用需求来源的具体章节或文件，如教务政策、学生信息系统接口规范，强化需求的权威性和准确性。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需求间链接关系建立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需求关联映射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通过ER图直观展现需求间的逻辑关系，确保各功能模块紧密相连，形成完整的服务闭环。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需求追溯矩阵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5500" y="2576513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建立需求追溯矩阵，确保每个需求都能追溯至其来源，同时明确其与系统功能的对应关系。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需求变更管理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59500" y="2576513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实施需求变更管理流程，记录每一次需求调整及其对系统设计的影响，维护需求间链接关系的一致性。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SRS Baseline与配置管理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773D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72238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0265" r="10265"/>
          <a:stretch>
            <a:fillRect/>
          </a:stretch>
        </p:blipFill>
        <p:spPr>
          <a:xfrm>
            <a:off x="0" y="0"/>
            <a:ext cx="9144000" cy="647223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20199" r="20199"/>
          <a:stretch>
            <a:fillRect/>
          </a:stretch>
        </p:blipFill>
        <p:spPr>
          <a:xfrm>
            <a:off x="5286375" y="0"/>
            <a:ext cx="3857625" cy="64722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Baseline定义与发布准备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162050"/>
            <a:ext cx="2052637" cy="2552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1943100"/>
            <a:ext cx="1347788" cy="4667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Baseline版本号定义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2447925"/>
            <a:ext cx="134778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确立V1.3作为SRS Baseline版本，确保文档的稳定性和可追溯性。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52688" y="1162050"/>
            <a:ext cx="2052637" cy="2552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05113" y="19431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正式发布准备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05113" y="2233613"/>
            <a:ext cx="134778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完成内部评审，整合反馈，确保文档质量，准备正式对外发布。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0050" y="3714750"/>
            <a:ext cx="2052637" cy="25479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2475" y="44958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配置系统提交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752475" y="4786313"/>
            <a:ext cx="134778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将SRS Baseline提交至配置管理系统，实现版本控制和变更管理。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452688" y="3714750"/>
            <a:ext cx="2052637" cy="254793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805113" y="44958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变更记录维护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2805113" y="4786313"/>
            <a:ext cx="134778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记录每次变更，包括修改日期、修改内容及修改人，保持文档的持续改进和透明度。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配置系统提交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14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075" y="1552575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配置系统提交流程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00075" y="1843088"/>
            <a:ext cx="25717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确保SRS文档的最终版本经过内部评审和客户确认后，正式提交至配置管理系统。此步骤包括文档版本控制、变更记录和基线版本的定义，确保文档的可追溯性和一致性。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72175" y="1552575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版本控制与变更管理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972175" y="1843088"/>
            <a:ext cx="25717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采用Git作为版本控制系统，记录每一次文档的修改和评审过程，确保每一版本的文档都有详细的变更日志，便于后期的跟踪和审计。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62263"/>
            <a:ext cx="4171950" cy="14097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0075" y="3069431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基线版本定义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00075" y="3359944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定义SRS文档的基线版本，作为项目开发和后续变更的基准。基线版本需经过严格的评审和批准流程，确保其稳定性和权威性。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需求可行性分析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773D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3315" r="13315"/>
          <a:stretch>
            <a:fillRect/>
          </a:stretch>
        </p:blipFill>
        <p:spPr>
          <a:xfrm>
            <a:off x="0" y="0"/>
            <a:ext cx="9144000" cy="7010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22486" r="22486"/>
          <a:stretch>
            <a:fillRect/>
          </a:stretch>
        </p:blipFill>
        <p:spPr>
          <a:xfrm>
            <a:off x="0" y="0"/>
            <a:ext cx="3857625" cy="701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需求可行性讨论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7675" y="1162050"/>
            <a:ext cx="4105275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57850" y="1473994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需求评估准则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657850" y="1764506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基于法规、技术、成本与资源约束，逐一分析需求的可行性。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57675" y="2571750"/>
            <a:ext cx="4105275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57850" y="2883694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技术实现考量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657850" y="3174206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评估LLM调用、多模态处理与数据治理的技术可行性。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57675" y="3981450"/>
            <a:ext cx="4105275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57850" y="4293394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成本效益分析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657850" y="4583906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衡量需求实现的成本与带来的业务价值，确保投资回报率。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57675" y="5391150"/>
            <a:ext cx="4105275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657850" y="5703094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资源与时间规划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657850" y="5993606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确认团队技能、工具链支持与时间窗口是否满足需求实现。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不可行需求记录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记录不可行需求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详细记录了所有被认为不可行的需求，包括其原因和讨论过程。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201930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8003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原因分析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30908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每个不可行需求都附有详细的原因分析，确保未来的设计和规划中避免类似问题。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201930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8003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替代方案探讨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30908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对于每个不可行需求，提供了可能的替代方案或建议，以期在后续迭代中实现类似功能。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7975" y="2019300"/>
            <a:ext cx="2085975" cy="2338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决策依据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记录了决策过程中的关键讨论点和依据，便于团队成员理解和追溯。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773D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ABLE_ENDDRAG_ORIGIN_RECT" val="228*133"/>
  <p:tag name="TABLE_ENDDRAG_RECT" val="7*212*228*133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MzY2ZjhlZjM3ZWY0N2MwZDNjNjI2ZmQyZDFjNmViY2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2584</Words>
  <Application>WPS 演示</Application>
  <PresentationFormat>On-screen Show (16:9)</PresentationFormat>
  <Paragraphs>288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Segoe UI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你好，陌路人</cp:lastModifiedBy>
  <cp:revision>2</cp:revision>
  <dcterms:created xsi:type="dcterms:W3CDTF">2025-05-11T15:11:00Z</dcterms:created>
  <dcterms:modified xsi:type="dcterms:W3CDTF">2025-05-11T15:17:12Z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A6B3444EE3D241308A12798E663F691A_12</vt:lpwstr>
  </property>
  <property fmtid="{D5CDD505-2E9C-101B-9397-08002B2CF9AE}" pid="3" name="KSOProductBuildVer">
    <vt:lpwstr>2052-12.1.0.16120</vt:lpwstr>
  </property>
</Properties>
</file>