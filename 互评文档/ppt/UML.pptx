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7" r:id="rId5"/>
    <p:sldId id="257" r:id="rId6"/>
    <p:sldId id="264" r:id="rId7"/>
    <p:sldId id="265" r:id="rId8"/>
    <p:sldId id="266" r:id="rId9"/>
    <p:sldId id="258" r:id="rId10"/>
    <p:sldId id="260" r:id="rId11"/>
    <p:sldId id="261" r:id="rId12"/>
  </p:sldIdLst>
  <p:sldSz cx="14630400" cy="8229600"/>
  <p:notesSz cx="8229600" cy="146304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691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84083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UML综合应用</a:t>
            </a:r>
            <a:endParaRPr lang="en-US" sz="4450" b="1" dirty="0">
              <a:solidFill>
                <a:srgbClr val="006747"/>
              </a:solidFill>
              <a:latin typeface="Noto Serif SC Bold" pitchFamily="34" charset="0"/>
              <a:ea typeface="Noto Serif SC Bold" pitchFamily="34" charset="-122"/>
              <a:cs typeface="Noto Serif SC Bold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“打击游戏”项目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41802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66547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6756440" y="5648563"/>
            <a:ext cx="1382911" cy="396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sp>
        <p:nvSpPr>
          <p:cNvPr id="8" name="矩形 7"/>
          <p:cNvSpPr/>
          <p:nvPr/>
        </p:nvSpPr>
        <p:spPr>
          <a:xfrm>
            <a:off x="12549924" y="7761530"/>
            <a:ext cx="1987497" cy="396835"/>
          </a:xfrm>
          <a:prstGeom prst="rect">
            <a:avLst/>
          </a:prstGeom>
          <a:solidFill>
            <a:srgbClr val="DD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49924" y="7761530"/>
            <a:ext cx="1987497" cy="396835"/>
          </a:xfrm>
          <a:prstGeom prst="rect">
            <a:avLst/>
          </a:prstGeom>
          <a:solidFill>
            <a:srgbClr val="DD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0"/>
          <p:cNvSpPr/>
          <p:nvPr/>
        </p:nvSpPr>
        <p:spPr>
          <a:xfrm>
            <a:off x="793790" y="742778"/>
            <a:ext cx="787538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zh-CN" alt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</a:rPr>
              <a:t>目录</a:t>
            </a:r>
            <a:endParaRPr lang="en-US" sz="4450" dirty="0"/>
          </a:p>
        </p:txBody>
      </p:sp>
      <p:sp>
        <p:nvSpPr>
          <p:cNvPr id="4" name="Text 0"/>
          <p:cNvSpPr/>
          <p:nvPr/>
        </p:nvSpPr>
        <p:spPr>
          <a:xfrm>
            <a:off x="793790" y="1697818"/>
            <a:ext cx="787538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Part 1: 使用UML进行系统设计</a:t>
            </a:r>
            <a:endParaRPr lang="en-US" sz="4450" dirty="0"/>
          </a:p>
        </p:txBody>
      </p:sp>
      <p:sp>
        <p:nvSpPr>
          <p:cNvPr id="5" name="Text 0"/>
          <p:cNvSpPr/>
          <p:nvPr/>
        </p:nvSpPr>
        <p:spPr>
          <a:xfrm>
            <a:off x="790218" y="2652858"/>
            <a:ext cx="7346871" cy="705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Part 2: 使用UML进行类设计</a:t>
            </a:r>
            <a:endParaRPr lang="en-US" sz="4400" dirty="0"/>
          </a:p>
        </p:txBody>
      </p:sp>
      <p:sp>
        <p:nvSpPr>
          <p:cNvPr id="6" name="Text 0"/>
          <p:cNvSpPr/>
          <p:nvPr/>
        </p:nvSpPr>
        <p:spPr>
          <a:xfrm>
            <a:off x="790218" y="3867864"/>
            <a:ext cx="6722626" cy="4938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4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Part 3: UML设计模型到代码实现转化</a:t>
            </a:r>
            <a:endParaRPr lang="en-US" sz="4400" dirty="0"/>
          </a:p>
        </p:txBody>
      </p:sp>
      <p:sp>
        <p:nvSpPr>
          <p:cNvPr id="7" name="Text 0"/>
          <p:cNvSpPr/>
          <p:nvPr/>
        </p:nvSpPr>
        <p:spPr>
          <a:xfrm>
            <a:off x="790218" y="4982937"/>
            <a:ext cx="3453289" cy="413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44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</a:t>
            </a:r>
            <a:r>
              <a:rPr lang="en-US" altLang="zh-CN" sz="44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art4 </a:t>
            </a:r>
            <a:r>
              <a:rPr lang="en-US" sz="4400" b="1" dirty="0" err="1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UML在测试阶段的应用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778"/>
            <a:ext cx="787538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Part 1: 使用UML进行系统设计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700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事件流提取对象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89" y="3308152"/>
            <a:ext cx="3653923" cy="32661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在系统设计阶段，我们首先从游戏核心事件流中提取关键对象。通过分析这些实体在游戏中的行为和相互作用，我们可以初步构建出系统的对象集合。</a:t>
            </a:r>
            <a:r>
              <a:rPr lang="zh-CN" alt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以这个事件流为例，可以提取出界面，图片，分数，级别，定时器，棋盘和系统。</a:t>
            </a:r>
            <a:endParaRPr lang="en-US" sz="1750" dirty="0"/>
          </a:p>
        </p:txBody>
      </p:sp>
      <p:sp>
        <p:nvSpPr>
          <p:cNvPr id="11" name="矩形 10"/>
          <p:cNvSpPr/>
          <p:nvPr/>
        </p:nvSpPr>
        <p:spPr>
          <a:xfrm>
            <a:off x="12549924" y="7761530"/>
            <a:ext cx="1987497" cy="396835"/>
          </a:xfrm>
          <a:prstGeom prst="rect">
            <a:avLst/>
          </a:prstGeom>
          <a:solidFill>
            <a:srgbClr val="DD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854" y="3081338"/>
            <a:ext cx="7220958" cy="2934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49924" y="7761530"/>
            <a:ext cx="1987497" cy="396835"/>
          </a:xfrm>
          <a:prstGeom prst="rect">
            <a:avLst/>
          </a:prstGeom>
          <a:solidFill>
            <a:srgbClr val="DD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866414" y="272593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用例模型图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66414" y="3307074"/>
            <a:ext cx="2845594" cy="290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接下来，基于提取的对象，我们绘制用例模型图。该图清晰地展现了用户与系统之间的交互，以及系统提供的各种功能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。</a:t>
            </a:r>
            <a:endParaRPr lang="en-US" sz="1750" dirty="0"/>
          </a:p>
        </p:txBody>
      </p:sp>
      <p:sp>
        <p:nvSpPr>
          <p:cNvPr id="11" name="Text 0"/>
          <p:cNvSpPr/>
          <p:nvPr/>
        </p:nvSpPr>
        <p:spPr>
          <a:xfrm>
            <a:off x="793790" y="742778"/>
            <a:ext cx="787538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Part 1: 使用UML进行系统设计</a:t>
            </a:r>
            <a:endParaRPr lang="en-US" sz="445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942" y="2780180"/>
            <a:ext cx="7354326" cy="60015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107" y="5211980"/>
            <a:ext cx="7401958" cy="6287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72505" y="3493375"/>
            <a:ext cx="7315200" cy="117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800" dirty="0"/>
              <a:t>玩家想要开始游戏，就要给系统对象发送一个开始消息。</a:t>
            </a:r>
            <a:endParaRPr lang="en-US" altLang="zh-CN" sz="1800" dirty="0"/>
          </a:p>
          <a:p>
            <a:pPr marL="0" indent="0" algn="l">
              <a:lnSpc>
                <a:spcPts val="2850"/>
              </a:lnSpc>
              <a:buNone/>
            </a:pPr>
            <a:r>
              <a:rPr lang="zh-CN" altLang="en-US" sz="1800" dirty="0"/>
              <a:t>系统对象收到开始游戏后，首先需要显示游戏的棋盘。这时系统对象需要给游戏盘对象发送一个显示棋盘的消息。</a:t>
            </a:r>
            <a:endParaRPr lang="en-US" altLang="zh-CN" sz="18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286107" y="6046210"/>
            <a:ext cx="7315200" cy="154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800" dirty="0"/>
              <a:t>显示棋盘之后，还需要再棋盘上显示一张图片，这时需要棋盘对象给图片对象发送一个消息。</a:t>
            </a:r>
            <a:endParaRPr lang="en-US" altLang="zh-CN" sz="1800" dirty="0"/>
          </a:p>
          <a:p>
            <a:pPr marL="0" indent="0" algn="l">
              <a:lnSpc>
                <a:spcPts val="2850"/>
              </a:lnSpc>
              <a:buNone/>
            </a:pPr>
            <a:r>
              <a:rPr lang="zh-CN" altLang="en-US" dirty="0"/>
              <a:t>显示完图片后，需要开始记录图片的显示时间，便需要系统对象给定时器对象发送消息。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49924" y="7761530"/>
            <a:ext cx="1987497" cy="396835"/>
          </a:xfrm>
          <a:prstGeom prst="rect">
            <a:avLst/>
          </a:prstGeom>
          <a:solidFill>
            <a:srgbClr val="DD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5"/>
          <p:cNvSpPr/>
          <p:nvPr/>
        </p:nvSpPr>
        <p:spPr>
          <a:xfrm>
            <a:off x="1155422" y="274129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对象协作图</a:t>
            </a:r>
            <a:endParaRPr lang="en-US" sz="2200" dirty="0"/>
          </a:p>
        </p:txBody>
      </p:sp>
      <p:sp>
        <p:nvSpPr>
          <p:cNvPr id="4" name="Text 6"/>
          <p:cNvSpPr/>
          <p:nvPr/>
        </p:nvSpPr>
        <p:spPr>
          <a:xfrm>
            <a:off x="1155422" y="3322440"/>
            <a:ext cx="2845594" cy="2540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将用例模型图与对象相结合，形成对象协作图。该图描述了在特定用例的执行过程中，不同对象如何相互协作以完成任务。它揭示了对象之间消息传递的顺序和逻辑。</a:t>
            </a:r>
            <a:endParaRPr lang="en-US" sz="1750" dirty="0"/>
          </a:p>
        </p:txBody>
      </p:sp>
      <p:sp>
        <p:nvSpPr>
          <p:cNvPr id="7" name="Text 0"/>
          <p:cNvSpPr/>
          <p:nvPr/>
        </p:nvSpPr>
        <p:spPr>
          <a:xfrm>
            <a:off x="793790" y="742778"/>
            <a:ext cx="787538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Part 1: 使用UML进行系统设计</a:t>
            </a:r>
            <a:endParaRPr lang="en-US" sz="445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0513" y="1690492"/>
            <a:ext cx="7125694" cy="281026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0513" y="5133974"/>
            <a:ext cx="7125694" cy="28102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49924" y="7761530"/>
            <a:ext cx="1987497" cy="396835"/>
          </a:xfrm>
          <a:prstGeom prst="rect">
            <a:avLst/>
          </a:prstGeom>
          <a:solidFill>
            <a:srgbClr val="DD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7"/>
          <p:cNvSpPr/>
          <p:nvPr/>
        </p:nvSpPr>
        <p:spPr>
          <a:xfrm>
            <a:off x="793790" y="272700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系统类图</a:t>
            </a:r>
            <a:endParaRPr lang="en-US" sz="2200" dirty="0"/>
          </a:p>
        </p:txBody>
      </p:sp>
      <p:sp>
        <p:nvSpPr>
          <p:cNvPr id="4" name="Text 8"/>
          <p:cNvSpPr/>
          <p:nvPr/>
        </p:nvSpPr>
        <p:spPr>
          <a:xfrm>
            <a:off x="793790" y="3308152"/>
            <a:ext cx="2845594" cy="290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最终，根据对象协作图和用例模型图，我们构建出系统的核心类图。该图展示了系统中的主要类、它们的属性、方法以及类之间的关系（如关联、继承、聚合等），为后续的详细设计奠定基础。</a:t>
            </a:r>
            <a:endParaRPr lang="en-US" sz="1750" dirty="0"/>
          </a:p>
        </p:txBody>
      </p:sp>
      <p:sp>
        <p:nvSpPr>
          <p:cNvPr id="5" name="Text 0"/>
          <p:cNvSpPr/>
          <p:nvPr/>
        </p:nvSpPr>
        <p:spPr>
          <a:xfrm>
            <a:off x="793790" y="742778"/>
            <a:ext cx="787538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Part 1: 使用UML进行系统设计</a:t>
            </a:r>
            <a:endParaRPr lang="en-US" sz="445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3344" y="3205299"/>
            <a:ext cx="8440328" cy="25911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633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3443049"/>
            <a:ext cx="7346871" cy="705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Part 2: 使用UML进行类设计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0218" y="4487228"/>
            <a:ext cx="4199453" cy="3121462"/>
          </a:xfrm>
          <a:prstGeom prst="roundRect">
            <a:avLst>
              <a:gd name="adj" fmla="val 651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023580" y="4720590"/>
            <a:ext cx="2822258" cy="352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CN" altLang="en-US" sz="2200" dirty="0"/>
              <a:t>添加系统类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3580" y="5208627"/>
            <a:ext cx="3732728" cy="18055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</a:rPr>
              <a:t>在需求分析中给出了游戏的界面，在游戏界面中有按钮，棋盘区域和分数显示区域，每个区域在实际的是现实都需要引入系统类。例如，游戏中界面中的按钮需要引入系统的</a:t>
            </a:r>
            <a:r>
              <a:rPr lang="en-US" altLang="zh-CN" sz="175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</a:rPr>
              <a:t>Jbutton</a:t>
            </a:r>
            <a:r>
              <a:rPr lang="zh-CN" alt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</a:rPr>
              <a:t>类。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5414" y="4487228"/>
            <a:ext cx="4199453" cy="3121462"/>
          </a:xfrm>
          <a:prstGeom prst="roundRect">
            <a:avLst>
              <a:gd name="adj" fmla="val 651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448776" y="4720590"/>
            <a:ext cx="2822258" cy="352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添加属性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8776" y="5208627"/>
            <a:ext cx="3732728" cy="21666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</a:rPr>
              <a:t>得到每一个设计类后需要对设计类进行细化。根据对系统的分析和设计，给每一个设计类增加属性和方法。添加的属性主要考虑类的主要特征和类的引用属性。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610" y="4487228"/>
            <a:ext cx="4199453" cy="3121462"/>
          </a:xfrm>
          <a:prstGeom prst="roundRect">
            <a:avLst>
              <a:gd name="adj" fmla="val 651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9873972" y="4720590"/>
            <a:ext cx="2822258" cy="352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添加方法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3972" y="5208627"/>
            <a:ext cx="3732728" cy="21666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为每个类定义其方法。方法代表了类的行为或操作。方法的参数、返回类型和可见性也应详细说明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。</a:t>
            </a:r>
            <a:endParaRPr lang="en-US" sz="1750" dirty="0"/>
          </a:p>
        </p:txBody>
      </p:sp>
      <p:sp>
        <p:nvSpPr>
          <p:cNvPr id="13" name="矩形 12"/>
          <p:cNvSpPr/>
          <p:nvPr/>
        </p:nvSpPr>
        <p:spPr>
          <a:xfrm>
            <a:off x="12549924" y="7761530"/>
            <a:ext cx="1987497" cy="396835"/>
          </a:xfrm>
          <a:prstGeom prst="rect">
            <a:avLst/>
          </a:prstGeom>
          <a:solidFill>
            <a:srgbClr val="DD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0744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3164" y="2410420"/>
            <a:ext cx="6722626" cy="4938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Part 3: UML设计模型到代码实现转化</a:t>
            </a:r>
            <a:endParaRPr lang="en-US" sz="3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64" y="3141345"/>
            <a:ext cx="790218" cy="1163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0436" y="3299341"/>
            <a:ext cx="1975723" cy="246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分析与设计主要类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1580436" y="3640931"/>
            <a:ext cx="12496800" cy="5057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在开始编码之前，对游戏中的核心类进行深入分析。这包括明确它们的职责、状态以及与其他类的交互方式</a:t>
            </a: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。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64" y="4304705"/>
            <a:ext cx="790218" cy="1163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80436" y="4462701"/>
            <a:ext cx="1975723" cy="246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编程语言实现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1580436" y="4804291"/>
            <a:ext cx="12496800" cy="5057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根据详细的UML类图，使用选定的编程语言（如C++、Java、Python等）来实现每一个类。这包括定义类的成员变量（对应UML中的属性）和成员函数（对应UML中的方法），并根据设计实现它们的逻辑。务必保持代码结构与UML设计一致。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64" y="5468064"/>
            <a:ext cx="790218" cy="1163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80436" y="5626060"/>
            <a:ext cx="1975723" cy="246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考虑设计模式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1580436" y="5967651"/>
            <a:ext cx="12496800" cy="5057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在代码实现过程中，可以根据项目的复杂性和需求，适当地引入设计模式。例如，使用“工厂模式”来创建不同类型的敌人，或者使用“观察者模式”来实现玩家与游戏UI之间的通信，这能提高代码的灵活性和可扩展性。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64" y="6631424"/>
            <a:ext cx="790218" cy="1163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80436" y="6789420"/>
            <a:ext cx="1975723" cy="246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集成与调试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1580436" y="7131010"/>
            <a:ext cx="12496800" cy="5057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完成单个类的实现后，需要进行集成，并进行单元测试和联调。确保各个类能够按照UML设计图中的关系协同工作，共同完成游戏的功能</a:t>
            </a: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矩形 15"/>
          <p:cNvSpPr/>
          <p:nvPr/>
        </p:nvSpPr>
        <p:spPr>
          <a:xfrm>
            <a:off x="12549924" y="7761530"/>
            <a:ext cx="1987497" cy="396835"/>
          </a:xfrm>
          <a:prstGeom prst="rect">
            <a:avLst/>
          </a:prstGeom>
          <a:solidFill>
            <a:srgbClr val="DD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6495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9196" y="363617"/>
            <a:ext cx="3453289" cy="413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44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</a:t>
            </a:r>
            <a:r>
              <a:rPr lang="en-US" altLang="zh-CN" sz="44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art4 </a:t>
            </a:r>
            <a:r>
              <a:rPr lang="en-US" sz="4400" b="1" dirty="0" err="1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UML在测试阶段的应用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352" y="1487328"/>
            <a:ext cx="1207889" cy="12078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64824" y="2827376"/>
            <a:ext cx="1652826" cy="2065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用例图指导功能测试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978009" y="3113245"/>
            <a:ext cx="4026575" cy="846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UML用例图清晰地描绘了系统的所有功能。测试人员可以依据用例图来设计测试用例，确保每个用例都被完整且正确地实现</a:t>
            </a: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。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9185" y="1487328"/>
            <a:ext cx="1207889" cy="12078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356657" y="2827376"/>
            <a:ext cx="1652826" cy="2065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类图辅助单元测试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10169842" y="3113245"/>
            <a:ext cx="4026575" cy="846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类图展示了系统的内部结构和类之间的关系。基于类图，开发人员可以为每个类编写单元测试，验证其属性和方法的行为是否正确</a:t>
            </a: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。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539" y="4919662"/>
            <a:ext cx="1207889" cy="12078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03031" y="6259711"/>
            <a:ext cx="1718786" cy="2065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活动图/序列图追踪缺陷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5949196" y="6545580"/>
            <a:ext cx="4026575" cy="6347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当发现缺陷时，活动图或序列图可以帮助测试人员和开发人员追踪问题的根源。这些图详细描述了操作流程或对象间的消息传递顺序，有助于快速定位出错的环节，从而高效地修复Bug。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0372" y="4919662"/>
            <a:ext cx="1207889" cy="120788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327844" y="6259711"/>
            <a:ext cx="1652826" cy="2065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状态图验证状态转换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10141029" y="6545580"/>
            <a:ext cx="4026575" cy="846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对于具有复杂状态的实体，状态图可以用来验证其状态转换逻辑是否正确</a:t>
            </a: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9231868" y="8996362"/>
            <a:ext cx="1652826" cy="2065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8045053" y="8074343"/>
            <a:ext cx="4026575" cy="2115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000" dirty="0"/>
          </a:p>
        </p:txBody>
      </p:sp>
      <p:sp>
        <p:nvSpPr>
          <p:cNvPr id="19" name="矩形 18"/>
          <p:cNvSpPr/>
          <p:nvPr/>
        </p:nvSpPr>
        <p:spPr>
          <a:xfrm>
            <a:off x="12549924" y="7761530"/>
            <a:ext cx="1987497" cy="396835"/>
          </a:xfrm>
          <a:prstGeom prst="rect">
            <a:avLst/>
          </a:prstGeom>
          <a:solidFill>
            <a:srgbClr val="DD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VkNjgzMTBkYzcyZjZkZTRiNzQ3N2ExNDk3NWI1Zj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1543</Words>
  <Application>WPS 演示</Application>
  <PresentationFormat>自定义</PresentationFormat>
  <Paragraphs>93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宋体</vt:lpstr>
      <vt:lpstr>Wingdings</vt:lpstr>
      <vt:lpstr>Noto Serif SC Bold</vt:lpstr>
      <vt:lpstr>Noto Serif SC</vt:lpstr>
      <vt:lpstr>Noto Serif SC Bold</vt:lpstr>
      <vt:lpstr>Noto Serif SC Bold</vt:lpstr>
      <vt:lpstr>Geist</vt:lpstr>
      <vt:lpstr>Geist</vt:lpstr>
      <vt:lpstr>Geist</vt:lpstr>
      <vt:lpstr>Calibri</vt:lpstr>
      <vt:lpstr>微软雅黑</vt:lpstr>
      <vt:lpstr>Arial Unicode MS</vt:lpstr>
      <vt:lpstr>等线</vt:lpstr>
      <vt:lpstr>AMGDT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你好，陌路人</cp:lastModifiedBy>
  <cp:revision>6</cp:revision>
  <dcterms:created xsi:type="dcterms:W3CDTF">2025-05-25T15:04:00Z</dcterms:created>
  <dcterms:modified xsi:type="dcterms:W3CDTF">2025-05-26T00:02:31Z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07BC52FD643D4F3E850CF8B4E14C71BC_13</vt:lpwstr>
  </property>
  <property fmtid="{D5CDD505-2E9C-101B-9397-08002B2CF9AE}" pid="3" name="KSOProductBuildVer">
    <vt:lpwstr>2052-12.1.0.16120</vt:lpwstr>
  </property>
</Properties>
</file>