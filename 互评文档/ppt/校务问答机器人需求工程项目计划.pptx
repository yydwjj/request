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78" r:id="rId11"/>
    <p:sldId id="283" r:id="rId12"/>
    <p:sldId id="284" r:id="rId13"/>
    <p:sldId id="285" r:id="rId14"/>
    <p:sldId id="286" r:id="rId15"/>
    <p:sldId id="263" r:id="rId16"/>
    <p:sldId id="264" r:id="rId17"/>
    <p:sldId id="265" r:id="rId18"/>
    <p:sldId id="266" r:id="rId19"/>
    <p:sldId id="267" r:id="rId20"/>
    <p:sldId id="268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5143500"/>
  <p:notesSz cx="5143500" cy="9144000"/>
  <p:custDataLst>
    <p:tags r:id="rId3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8273" initials="2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gs" Target="tags/tag20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17T11:15:07.084" idx="2">
    <p:pos x="5410" y="190"/>
    <p:text>甘特图细粒度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17T11:15:28.509" idx="3">
    <p:pos x="5410" y="190"/>
    <p:text>联系方式确定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17T11:14:29.061" idx="1">
    <p:pos x="5410" y="190"/>
    <p:text>组长也要评分，评分不能重复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8.png"/><Relationship Id="rId2" Type="http://schemas.openxmlformats.org/officeDocument/2006/relationships/tags" Target="../tags/tag4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tags" Target="../tags/tag9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tags" Target="../tags/tag10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tags" Target="../tags/tag1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tags" Target="../tags/tag1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image" Target="../media/image13.png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1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16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tags" Target="../tags/tag17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2.xml"/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tags" Target="../tags/tag19.xml"/><Relationship Id="rId2" Type="http://schemas.openxmlformats.org/officeDocument/2006/relationships/image" Target="../media/image21.png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3.xml"/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校务问答机器人需求工程项目计划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00773D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G07</a:t>
            </a:r>
            <a:r>
              <a:rPr lang="zh-CN" alt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</a:t>
            </a:r>
            <a:endParaRPr lang="zh-CN" alt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6738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7453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项目概述与背景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992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工作分解结构与任务分配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项目进度与组织结构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干系人分析与沟通策略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1884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259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专项子计划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24250" y="38171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3990975" y="3888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B1F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团队合作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990975" y="41362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项目概述与背景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项目背景与目标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智慧校园建设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响应智慧校园建设号召，提升校务服务智能化水平，便利师生校园生活。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需求精准收集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确保校务问答机器人满足实际需求，精准、全面收集与分析需求，化解复杂性。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目标明确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开发基于大语言模型的校务问答机器人，提升校园服务效率与用户体验。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项目范围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5" name="单圆角矩形 14"/>
          <p:cNvSpPr/>
          <p:nvPr>
            <p:custDataLst>
              <p:tags r:id="rId2"/>
            </p:custDataLst>
          </p:nvPr>
        </p:nvSpPr>
        <p:spPr>
          <a:xfrm flipH="1">
            <a:off x="623393" y="2276031"/>
            <a:ext cx="3848619" cy="773954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rgbClr val="376FFF">
                  <a:lumMod val="60000"/>
                  <a:lumOff val="40000"/>
                </a:srgbClr>
              </a:gs>
              <a:gs pos="0">
                <a:srgbClr val="376FFF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srgbClr val="376FFF">
                <a:alpha val="25000"/>
              </a:srgbClr>
            </a:outerShdw>
          </a:effectLst>
        </p:spPr>
        <p:txBody>
          <a:bodyPr vertOverflow="overflow" horzOverflow="overflow" vert="horz" wrap="square" lIns="61201" tIns="92073" rIns="245890" bIns="61201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4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需求获取与分析</a:t>
            </a:r>
            <a:endParaRPr lang="zh-CN" altLang="en-US" sz="204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3"/>
            </p:custDataLst>
          </p:nvPr>
        </p:nvSpPr>
        <p:spPr>
          <a:xfrm>
            <a:off x="4171479" y="1683510"/>
            <a:ext cx="4349853" cy="13614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88" h="1731">
                <a:moveTo>
                  <a:pt x="3123" y="0"/>
                </a:moveTo>
                <a:lnTo>
                  <a:pt x="3988" y="866"/>
                </a:lnTo>
                <a:lnTo>
                  <a:pt x="3122" y="1731"/>
                </a:lnTo>
                <a:lnTo>
                  <a:pt x="3122" y="1358"/>
                </a:lnTo>
                <a:lnTo>
                  <a:pt x="0" y="1358"/>
                </a:lnTo>
                <a:lnTo>
                  <a:pt x="0" y="866"/>
                </a:lnTo>
                <a:cubicBezTo>
                  <a:pt x="0" y="594"/>
                  <a:pt x="220" y="374"/>
                  <a:pt x="492" y="374"/>
                </a:cubicBezTo>
                <a:lnTo>
                  <a:pt x="3123" y="374"/>
                </a:lnTo>
                <a:lnTo>
                  <a:pt x="3123" y="0"/>
                </a:lnTo>
                <a:close/>
              </a:path>
            </a:pathLst>
          </a:custGeom>
          <a:gradFill>
            <a:gsLst>
              <a:gs pos="25000">
                <a:srgbClr val="17D594">
                  <a:lumMod val="60000"/>
                  <a:lumOff val="40000"/>
                </a:srgbClr>
              </a:gs>
              <a:gs pos="90000">
                <a:srgbClr val="17D594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srgbClr val="17D594">
                <a:alpha val="25000"/>
              </a:srgbClr>
            </a:outerShdw>
          </a:effectLst>
        </p:spPr>
        <p:txBody>
          <a:bodyPr vertOverflow="overflow" horzOverflow="overflow" vert="horz" wrap="square" lIns="61201" tIns="61201" rIns="307092" bIns="61201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4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需求验证与管理</a:t>
            </a:r>
            <a:endParaRPr lang="zh-CN" altLang="en-US" sz="2045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直角三角形 18"/>
          <p:cNvSpPr/>
          <p:nvPr>
            <p:custDataLst>
              <p:tags r:id="rId4"/>
            </p:custDataLst>
          </p:nvPr>
        </p:nvSpPr>
        <p:spPr>
          <a:xfrm rot="10800000">
            <a:off x="4171479" y="2749398"/>
            <a:ext cx="300458" cy="300458"/>
          </a:xfrm>
          <a:prstGeom prst="rtTriangle">
            <a:avLst/>
          </a:prstGeom>
          <a:solidFill>
            <a:srgbClr val="17D5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535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工作分解结构与任务分配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WBS层级与词典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zh-CN" altLang="en-US" sz="225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836535" y="3500755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87" name="图片 8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47745" y="1969135"/>
            <a:ext cx="5158105" cy="2252980"/>
          </a:xfrm>
          <a:prstGeom prst="rect">
            <a:avLst/>
          </a:prstGeom>
        </p:spPr>
      </p:pic>
      <p:sp>
        <p:nvSpPr>
          <p:cNvPr id="92" name="Text 3"/>
          <p:cNvSpPr/>
          <p:nvPr>
            <p:custDataLst>
              <p:tags r:id="rId4"/>
            </p:custDataLst>
          </p:nvPr>
        </p:nvSpPr>
        <p:spPr>
          <a:xfrm>
            <a:off x="815023" y="178435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项目启动</a:t>
            </a:r>
            <a:endParaRPr lang="en-US" sz="1500" dirty="0"/>
          </a:p>
        </p:txBody>
      </p:sp>
      <p:sp>
        <p:nvSpPr>
          <p:cNvPr id="93" name="Text 4"/>
          <p:cNvSpPr/>
          <p:nvPr>
            <p:custDataLst>
              <p:tags r:id="rId5"/>
            </p:custDataLst>
          </p:nvPr>
        </p:nvSpPr>
        <p:spPr>
          <a:xfrm>
            <a:off x="815340" y="2654300"/>
            <a:ext cx="25069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定义项目范围，明确项目目标和预期成果</a:t>
            </a:r>
            <a:endParaRPr lang="en-US" sz="1050" dirty="0"/>
          </a:p>
        </p:txBody>
      </p:sp>
      <p:sp>
        <p:nvSpPr>
          <p:cNvPr id="94" name="Text 5"/>
          <p:cNvSpPr/>
          <p:nvPr>
            <p:custDataLst>
              <p:tags r:id="rId6"/>
            </p:custDataLst>
          </p:nvPr>
        </p:nvSpPr>
        <p:spPr>
          <a:xfrm>
            <a:off x="815340" y="3149600"/>
            <a:ext cx="250698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组建项目团队，确定成员角色与职责</a:t>
            </a:r>
            <a:endParaRPr lang="en-US" sz="1050" dirty="0"/>
          </a:p>
        </p:txBody>
      </p:sp>
      <p:sp>
        <p:nvSpPr>
          <p:cNvPr id="95" name="Text 6"/>
          <p:cNvSpPr/>
          <p:nvPr>
            <p:custDataLst>
              <p:tags r:id="rId7"/>
            </p:custDataLst>
          </p:nvPr>
        </p:nvSpPr>
        <p:spPr>
          <a:xfrm>
            <a:off x="815340" y="3435350"/>
            <a:ext cx="250698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制定初步时间表，规划项目关键里程碑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WBS层级与词典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（</a:t>
            </a:r>
            <a:r>
              <a:rPr lang="en-US" altLang="zh-CN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）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7836535" y="3500755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92" name="Text 3"/>
          <p:cNvSpPr/>
          <p:nvPr>
            <p:custDataLst>
              <p:tags r:id="rId2"/>
            </p:custDataLst>
          </p:nvPr>
        </p:nvSpPr>
        <p:spPr>
          <a:xfrm>
            <a:off x="815340" y="1784350"/>
            <a:ext cx="165798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项目规划</a:t>
            </a:r>
            <a:endParaRPr lang="en-US" sz="15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530" y="1351915"/>
            <a:ext cx="5351780" cy="35179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7873" y="2437130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制定详细的工作分解结构，确保任务细分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57873" y="2932430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分配资源，确保每个任务有合适的人员负责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57873" y="342773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设定质量标准，确保项目成果符合要求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WBS层级与词典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（</a:t>
            </a:r>
            <a:r>
              <a:rPr lang="en-US" altLang="zh-CN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）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7836535" y="3500755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92" name="Text 3"/>
          <p:cNvSpPr/>
          <p:nvPr>
            <p:custDataLst>
              <p:tags r:id="rId2"/>
            </p:custDataLst>
          </p:nvPr>
        </p:nvSpPr>
        <p:spPr>
          <a:xfrm>
            <a:off x="815023" y="178435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项目执行</a:t>
            </a:r>
            <a:endParaRPr lang="en-US" sz="15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170" y="1555115"/>
            <a:ext cx="4799330" cy="323786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55650" y="257175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实施项目计划，监控进度并调整计划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55650" y="285750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定期召开项目会议，沟通进展与问题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55650" y="314325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管理变更请求，评估影响并更新计划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WBS层级与词典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（</a:t>
            </a:r>
            <a:r>
              <a:rPr lang="en-US" altLang="zh-CN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4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）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7836535" y="3500755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92" name="Text 3"/>
          <p:cNvSpPr/>
          <p:nvPr>
            <p:custDataLst>
              <p:tags r:id="rId2"/>
            </p:custDataLst>
          </p:nvPr>
        </p:nvSpPr>
        <p:spPr>
          <a:xfrm>
            <a:off x="815023" y="178435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项目监控</a:t>
            </a:r>
            <a:endParaRPr lang="en-US" sz="15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655" y="1573530"/>
            <a:ext cx="5426710" cy="331406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9785" y="257175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跟踪项目进度，确保按时完成任务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819785" y="285750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监控成本，确保预算内完成项目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19785" y="314325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评估风险，采取措施降低风险影响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WBS层级与词典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（</a:t>
            </a:r>
            <a:r>
              <a:rPr lang="en-US" altLang="zh-CN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5</a:t>
            </a: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）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7836535" y="3500755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92" name="Text 3"/>
          <p:cNvSpPr/>
          <p:nvPr>
            <p:custDataLst>
              <p:tags r:id="rId2"/>
            </p:custDataLst>
          </p:nvPr>
        </p:nvSpPr>
        <p:spPr>
          <a:xfrm>
            <a:off x="815023" y="178435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项目收尾</a:t>
            </a:r>
            <a:endParaRPr lang="en-US" sz="15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085" y="1743075"/>
            <a:ext cx="5338445" cy="281876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96290" y="257175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完成项目交付物，确保满足客户要求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796290" y="285750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进行项目总结，记录经验教训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96290" y="314325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解散项目团队，感谢成员贡献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579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RACI矩阵详解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表格 18"/>
          <p:cNvGraphicFramePr/>
          <p:nvPr/>
        </p:nvGraphicFramePr>
        <p:xfrm>
          <a:off x="2967990" y="1288002"/>
          <a:ext cx="6120130" cy="3855720"/>
        </p:xfrm>
        <a:graphic>
          <a:graphicData uri="http://schemas.openxmlformats.org/drawingml/2006/table">
            <a:tbl>
              <a:tblPr/>
              <a:tblGrid>
                <a:gridCol w="1007745"/>
                <a:gridCol w="995045"/>
                <a:gridCol w="801370"/>
                <a:gridCol w="800100"/>
                <a:gridCol w="798830"/>
                <a:gridCol w="937895"/>
                <a:gridCol w="779145"/>
              </a:tblGrid>
              <a:tr h="296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任务分类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关键任务项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郭伟进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阮精特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范品樟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林锴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麻克强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需求管理启动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组建需求管理团队制定需求管理框架明确目标与范围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A（问责）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R（负责）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C（咨询）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C（咨询）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I（告知）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需求管理规划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设计需求获取方法制定分析策略规划跟踪框架设计沟通计划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A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R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需求获取执行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开展多维度调研整理分析数据提炼需求清单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R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C（数据分析）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I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需求验证执行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编写需求文档建立跟踪矩阵组织评审会议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A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R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需求监控与控制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跟踪需求变更评估质量偏差优化管理流程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A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R（数据监控）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需求管理收尾</a:t>
                      </a:r>
                      <a:endParaRPr lang="en-US" altLang="en-US" sz="8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汇总需求基线整理归档文档总结经验教训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A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latin typeface="Calibri" panose="020F0502020204030204" charset="0"/>
                          <a:cs typeface="Calibri" panose="020F0502020204030204" charset="0"/>
                        </a:rPr>
                        <a:t>R</a:t>
                      </a:r>
                      <a:endParaRPr lang="en-US" altLang="en-US" sz="7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1" name="Image 3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467043" y="1287780"/>
            <a:ext cx="2052637" cy="2547938"/>
          </a:xfrm>
          <a:prstGeom prst="rect">
            <a:avLst/>
          </a:prstGeom>
        </p:spPr>
      </p:pic>
      <p:sp>
        <p:nvSpPr>
          <p:cNvPr id="22" name="Text 5"/>
          <p:cNvSpPr/>
          <p:nvPr>
            <p:custDataLst>
              <p:tags r:id="rId3"/>
            </p:custDataLst>
          </p:nvPr>
        </p:nvSpPr>
        <p:spPr>
          <a:xfrm>
            <a:off x="819468" y="2068830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角色分配</a:t>
            </a:r>
            <a:endParaRPr lang="en-US" sz="1200" dirty="0"/>
          </a:p>
        </p:txBody>
      </p:sp>
      <p:sp>
        <p:nvSpPr>
          <p:cNvPr id="23" name="Text 6"/>
          <p:cNvSpPr/>
          <p:nvPr>
            <p:custDataLst>
              <p:tags r:id="rId4"/>
            </p:custDataLst>
          </p:nvPr>
        </p:nvSpPr>
        <p:spPr>
          <a:xfrm>
            <a:off x="819468" y="2359343"/>
            <a:ext cx="1347788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郭伟进、阮精特、范品樟、林锴、麻克强，各司其职，协同推进需求管理全流程。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项目进度与组织结构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742950"/>
            <a:ext cx="8001000" cy="18103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甘特图概览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2381250"/>
            <a:ext cx="8382000" cy="26527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24669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28575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项目时间轴展示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31480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直观展示校务问答机器人需求管理项目的各个阶段。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48062" y="24669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28575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启动到收尾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31480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从项目启动至收尾，清晰标识每个关键任务的时间节点。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29238" y="24669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28575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任务间依赖关系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31480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揭示任务间的先后顺序与依赖关系，帮助团队理解工作流。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10413" y="24669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28575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资源分配视图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31480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显示不同阶段资源的分配情况，便于监控资源使用效率。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43625" y="39385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48200" y="4329112"/>
            <a:ext cx="32575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进度对比分析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48200" y="4619625"/>
            <a:ext cx="32575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对比计划与实际进度，突出显示潜在延误。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733675" y="39385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238250" y="4329112"/>
            <a:ext cx="32575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决策依据提供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238250" y="4619625"/>
            <a:ext cx="32575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为项目管理提供决策依据，确保项目顺利推进。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OBS组织结构图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0" y="2000250"/>
            <a:ext cx="8382000" cy="2371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34803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OBS模式应用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363855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本项目采用OBS模式，清晰定义了团队成员的角色与职责，确保高效协作。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2764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核心团队构成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2566988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核心团队由郭伟进领导的需求管理组、阮精特负责的需求验证组等组成，各司其职。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186488" y="22764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小组职能明确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86488" y="2566988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每个小组聚焦特定领域，如需求管理的启动、规划、执行、监控与收尾，确保流程的专业性。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334803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支持角色重要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363855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范品樟提供支持，确保团队在各个阶段都能获得必要的协助和资源。</a:t>
            </a:r>
            <a:endParaRPr lang="en-US" sz="1050" dirty="0"/>
          </a:p>
        </p:txBody>
      </p:sp>
      <p:pic>
        <p:nvPicPr>
          <p:cNvPr id="15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25" y="768985"/>
            <a:ext cx="5632450" cy="1148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干系人分析与沟通策略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关键干系人矩阵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识别核心干系人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247900"/>
            <a:ext cx="1841500" cy="13411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信息中心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教务处/学工部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师生用户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开发团队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分管校领导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IT运维团队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课程任课教师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定制沟通策略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65500" y="2247900"/>
            <a:ext cx="2413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针对不同干系人的关注点，制定了个性化的沟通策略，如信息中心关注接口进度与数据安全，采取每周邮件+电话跟进的方式。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59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确保高效互动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59500" y="22479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通过定期会议、线上问卷、焦点小组讨论等多种渠道，确保与干系人的沟通既全面又深入，促进项目的顺利推进。</a:t>
            </a:r>
            <a:endParaRPr lang="en-US" sz="1050" dirty="0"/>
          </a:p>
        </p:txBody>
      </p:sp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2633893" y="0"/>
          <a:ext cx="6510020" cy="4975860"/>
        </p:xfrm>
        <a:graphic>
          <a:graphicData uri="http://schemas.openxmlformats.org/drawingml/2006/table">
            <a:tbl>
              <a:tblPr/>
              <a:tblGrid>
                <a:gridCol w="1627505"/>
                <a:gridCol w="1627505"/>
                <a:gridCol w="1627505"/>
                <a:gridCol w="1627505"/>
              </a:tblGrid>
              <a:tr h="3657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干系人</a:t>
                      </a:r>
                      <a:endParaRPr lang="en-US" altLang="en-US" sz="9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影响力</a:t>
                      </a:r>
                      <a:endParaRPr lang="en-US" altLang="en-US" sz="9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关注点</a:t>
                      </a:r>
                      <a:endParaRPr lang="en-US" altLang="en-US" sz="9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沟通策略 / 联系方式</a:t>
                      </a:r>
                      <a:endParaRPr lang="en-US" altLang="en-US" sz="9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信息中心</a:t>
                      </a:r>
                      <a:endParaRPr lang="en-US" altLang="en-US" sz="9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高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接口对接进度、数据安全合规性、部署环境准备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- 每周一次：邮件 + 电话跟进- 重点：接口开发进度、测试环境资源申请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教务处 / 学工部</a:t>
                      </a:r>
                      <a:endParaRPr lang="en-US" altLang="en-US" sz="9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高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数据准确性、知识库内容合规性、需求响应速度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- 每两周一次：线下会议 + 会议纪要- 重点：政策文档更新、问答内容审核反馈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师生用户</a:t>
                      </a:r>
                      <a:endParaRPr lang="en-US" altLang="en-US" sz="9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高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功能易用性、回答准确性、问题解决效率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- 每轮测试后：线上问卷 + 焦点小组- 重点：界面交互体验、高频问题优化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开发团队（5 人）</a:t>
                      </a:r>
                      <a:endParaRPr lang="en-US" altLang="en-US" sz="9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高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任务优先级、资源分配、技术难点突破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- 每日：10 分钟站会（钉钉 / 线下）- 重点：任务完成率、阻塞问题升级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分管校领导</a:t>
                      </a:r>
                      <a:endParaRPr lang="en-US" altLang="en-US" sz="9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高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项目进度、资源审批、风险应对方案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- 每月一次：正式汇报会- 重点：里程碑成果展示、重大风险预警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IT 运维团队</a:t>
                      </a:r>
                      <a:endParaRPr lang="en-US" altLang="en-US" sz="9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中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系统稳定性、故障响应速度、资源使用效率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- 按需：紧急问题即时沟通 + 月度运维报告- 重点：服务器负载监控、应急预案执行情况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1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课程任课教师</a:t>
                      </a:r>
                      <a:endParaRPr lang="en-US" altLang="en-US" sz="900" b="1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中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项目方向符合课程要求、验收标准达成率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222222"/>
                          </a:solidFill>
                          <a:latin typeface="Segoe UI" panose="020B0502040204020203" charset="0"/>
                          <a:cs typeface="Segoe UI" panose="020B0502040204020203" charset="0"/>
                        </a:rPr>
                        <a:t>- 关键节点：线下评审会 + 邮件确认- 重点：原型功能符合度、文档完整性</a:t>
                      </a:r>
                      <a:endParaRPr lang="en-US" altLang="en-US" sz="900" b="0">
                        <a:solidFill>
                          <a:srgbClr val="222222"/>
                        </a:solidFill>
                        <a:latin typeface="Segoe UI" panose="020B0502040204020203" charset="0"/>
                        <a:ea typeface="Segoe UI" panose="020B0502040204020203" charset="0"/>
                        <a:cs typeface="Segoe UI" panose="020B0502040204020203" charset="0"/>
                      </a:endParaRPr>
                    </a:p>
                  </a:txBody>
                  <a:tcPr marL="171450" marR="171450" marT="114300" marB="1143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专项子计划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风险管理计划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风险识别与分类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技术风险、需求风险、安全风险、资源风险、用户风险，全面覆盖项目潜在威胁。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风险评估方法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运用概率影响矩阵与专家评审，科学评估风险等级与紧迫性。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风险应对策略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技术风险采用分阶段开发与备用方案，需求风险建立变更控制流程，安全风险加强数据保护与定期测试。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风险监控机制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周例会跟踪风险状态，关键节点专项评估，预留应急储备快速响应。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9689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3340" r="13340"/>
          <a:stretch>
            <a:fillRect/>
          </a:stretch>
        </p:blipFill>
        <p:spPr>
          <a:xfrm>
            <a:off x="0" y="0"/>
            <a:ext cx="9144000" cy="559689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2106" r="2106"/>
          <a:stretch>
            <a:fillRect/>
          </a:stretch>
        </p:blipFill>
        <p:spPr>
          <a:xfrm>
            <a:off x="0" y="0"/>
            <a:ext cx="3020060" cy="54921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资源预算计划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57675" y="1162050"/>
            <a:ext cx="4105275" cy="14144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57850" y="1266825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基础工具预算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657850" y="1557338"/>
            <a:ext cx="250507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投入200元用于租赁腾讯云学生服务器一年，确保项目开发环境稳定。另拨款50元用于DeepSeekAPI，增强问答机器人的智能响应能力。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57675" y="2576513"/>
            <a:ext cx="4105275" cy="14097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57850" y="2783681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调研费用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657850" y="3074194"/>
            <a:ext cx="25050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预算100元用于调研材料制作，包括纸质问卷印刷及文具购置，支持实地调研与数据收集。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57675" y="4071938"/>
            <a:ext cx="4105275" cy="1409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657850" y="4350861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应急储备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5657850" y="4641374"/>
            <a:ext cx="2505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设立500元备用金作为应急储备，应对突发状况，确保项目顺利推进。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团队合作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D8D8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2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分工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 b="50485"/>
          <a:stretch>
            <a:fillRect/>
          </a:stretch>
        </p:blipFill>
        <p:spPr>
          <a:xfrm>
            <a:off x="381000" y="1428750"/>
            <a:ext cx="8382000" cy="14573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1050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zh-CN" altLang="en-US" sz="1200">
                <a:sym typeface="+mn-ea"/>
              </a:rPr>
              <a:t>项目负责人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81050" y="2147888"/>
            <a:ext cx="155733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>
                <a:sym typeface="+mn-ea"/>
              </a:rPr>
              <a:t>郭伟进：统筹全局，牵头需求规划与章程制定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2757488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zh-CN" altLang="en-US" sz="1200">
                <a:sym typeface="+mn-ea"/>
              </a:rPr>
              <a:t>技术攻坚组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757805" y="2148205"/>
            <a:ext cx="1557655" cy="93408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>
                <a:sym typeface="+mn-ea"/>
              </a:rPr>
              <a:t>阮精特：可行性分析与技术方案设计</a:t>
            </a:r>
            <a:endParaRPr lang="zh-CN" altLang="en-US" sz="1050"/>
          </a:p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>
                <a:sym typeface="+mn-ea"/>
              </a:rPr>
              <a:t>林锴：资源调度及配置管理规范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733925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zh-CN" altLang="en-US" sz="1200">
                <a:sym typeface="+mn-ea"/>
              </a:rPr>
              <a:t>风险管理组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33925" y="2148205"/>
            <a:ext cx="1557655" cy="920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>
                <a:sym typeface="+mn-ea"/>
              </a:rPr>
              <a:t>范品樟：风险预案制定与跟踪</a:t>
            </a:r>
            <a:endParaRPr lang="zh-CN" altLang="en-US" sz="1050"/>
          </a:p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>
                <a:sym typeface="+mn-ea"/>
              </a:rPr>
              <a:t>麻克强：干系人协调与沟通机制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710363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zh-CN" altLang="en-US" sz="1200">
                <a:sym typeface="+mn-ea"/>
              </a:rPr>
              <a:t>需求调研组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710680" y="2148205"/>
            <a:ext cx="1557655" cy="7499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>
                <a:sym typeface="+mn-ea"/>
              </a:rPr>
              <a:t>郭伟进（主）+5 名成员：跨部门需求收集与标准化</a:t>
            </a:r>
            <a:endParaRPr lang="en-US" sz="1050" dirty="0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510" y="1466850"/>
            <a:ext cx="9127490" cy="24885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本次作业分工与评价</a:t>
            </a:r>
            <a:endParaRPr lang="en-US" sz="2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447800"/>
            <a:ext cx="2085975" cy="25479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2475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范品樟</a:t>
            </a:r>
            <a:endParaRPr lang="zh-CN" altLang="en-US" sz="1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52475" y="2519680"/>
            <a:ext cx="159829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 风险防控守门员</a:t>
            </a:r>
            <a:endParaRPr 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✨ 为项目系上 "安全带"</a:t>
            </a:r>
            <a:endParaRPr 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</a:t>
            </a:r>
            <a:endParaRPr lang="zh-CN" alt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86025" y="1447800"/>
            <a:ext cx="2085975" cy="25479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838450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阮精特</a:t>
            </a:r>
            <a:endParaRPr lang="zh-CN" altLang="en-US" sz="1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2838450" y="2519680"/>
            <a:ext cx="159893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 可行性把关者</a:t>
            </a:r>
            <a:endParaRPr 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✨ 输出可落地的实施路线</a:t>
            </a:r>
            <a:endParaRPr 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</a:t>
            </a:r>
            <a:endParaRPr lang="zh-CN" alt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0" y="1447800"/>
            <a:ext cx="2085975" cy="25479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24425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林锴</a:t>
            </a:r>
            <a:endParaRPr lang="zh-CN" altLang="en-US" sz="1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4925060" y="2519680"/>
            <a:ext cx="1381125" cy="8191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▶资源调度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魔术师</a:t>
            </a:r>
            <a:endParaRPr lang="zh-CN" alt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altLang="zh-CN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</a:t>
            </a:r>
            <a:endParaRPr lang="zh-CN" alt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57975" y="1447800"/>
            <a:ext cx="2085975" cy="25479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010400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zh-CN" alt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麻克强</a:t>
            </a:r>
            <a:endParaRPr lang="zh-CN" altLang="en-US" sz="1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7010400" y="2519363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1650"/>
              </a:lnSpc>
              <a:buClrTx/>
              <a:buSzTx/>
              <a:buFontTx/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PPT工匠</a:t>
            </a:r>
            <a:endParaRPr 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algn="l">
              <a:lnSpc>
                <a:spcPts val="1650"/>
              </a:lnSpc>
              <a:buClrTx/>
              <a:buSzTx/>
              <a:buFontTx/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</a:t>
            </a:r>
            <a:endParaRPr lang="zh-CN" alt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77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773D"/>
          </a:solidFill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G07</a:t>
            </a:r>
            <a:r>
              <a:rPr lang="zh-CN" alt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</a:t>
            </a:r>
            <a:endParaRPr lang="zh-CN" alt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31066_1*m_h_a*1_1_1"/>
  <p:tag name="KSO_WM_TEMPLATE_CATEGORY" val="diagram"/>
  <p:tag name="KSO_WM_TEMPLATE_INDEX" val="2023106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7"/>
  <p:tag name="KSO_WM_DIAGRAM_MAX_ITEMCNT" val="6"/>
  <p:tag name="KSO_WM_DIAGRAM_MIN_ITEMCNT" val="2"/>
  <p:tag name="KSO_WM_DIAGRAM_VIRTUALLY_FRAME" val="{&quot;height&quot;:373.29998779296875,&quot;width&quot;:844.1839599609375}"/>
  <p:tag name="KSO_WM_DIAGRAM_COLOR_MATCH_VALUE" val="{&quot;shape&quot;:{&quot;fill&quot;:{&quot;gradient&quot;:[{&quot;brightness&quot;:0.4000000059604645,&quot;colorType&quot;:1,&quot;foreColorIndex&quot;:5,&quot;pos&quot;:0.8999999761581421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DIAGRAM_USE_COLOR_VALUE" val="{&quot;color_scheme&quot;:1,&quot;color_type&quot;:1,&quot;theme_color_indexes&quot;:[]}"/>
</p:tagLst>
</file>

<file path=ppt/tags/tag2.xml><?xml version="1.0" encoding="utf-8"?>
<p:tagLst xmlns:p="http://schemas.openxmlformats.org/presentationml/2006/main">
  <p:tag name="KSO_WM_BEAUTIFY_FLAG" val="#wm#"/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31066_1*m_h_a*1_2_1"/>
  <p:tag name="KSO_WM_TEMPLATE_CATEGORY" val="diagram"/>
  <p:tag name="KSO_WM_TEMPLATE_INDEX" val="20231066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27"/>
  <p:tag name="KSO_WM_DIAGRAM_MAX_ITEMCNT" val="6"/>
  <p:tag name="KSO_WM_DIAGRAM_MIN_ITEMCNT" val="2"/>
  <p:tag name="KSO_WM_DIAGRAM_VIRTUALLY_FRAME" val="{&quot;height&quot;:373.29998779296875,&quot;width&quot;:844.1839599609375}"/>
  <p:tag name="KSO_WM_DIAGRAM_COLOR_MATCH_VALUE" val="{&quot;shape&quot;:{&quot;fill&quot;:{&quot;gradient&quot;:[{&quot;brightness&quot;:0.4000000059604645,&quot;colorType&quot;:1,&quot;foreColorIndex&quot;:6,&quot;pos&quot;:0.25,&quot;transparency&quot;:0},{&quot;brightness&quot;:0,&quot;colorType&quot;:1,&quot;foreColorIndex&quot;:6,&quot;pos&quot;:0.8999999761581421,&quot;transparency&quot;:0}],&quot;type&quot;:3},&quot;glow&quot;:{&quot;colorType&quot;:0},&quot;line&quot;:{&quot;type&quot;:0},&quot;shadow&quot;:{&quot;brightness&quot;:0,&quot;colorType&quot;:1,&quot;foreColorIndex&quot;:6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DIAGRAM_USE_COLOR_VALUE" val="{&quot;color_scheme&quot;:1,&quot;color_type&quot;:1,&quot;theme_color_indexes&quot;:[]}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31066_1*m_h_i*1_2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73.29998779296875,&quot;width&quot;:844.18395996093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TABLE_ENDDRAG_ORIGIN_RECT" val="512*373"/>
  <p:tag name="TABLE_ENDDRAG_RECT" val="81*192*512*373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resource_record_key" val="{&quot;70&quot;:[3314141]}"/>
  <p:tag name="commondata" val="eyJoZGlkIjoiNWU5YzQxY2E0ODUwNTMwY2E4MmM5YjAyNDc4M2Q5ZT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2453</Words>
  <Application>WPS 演示</Application>
  <PresentationFormat>On-screen Show (16:9)</PresentationFormat>
  <Paragraphs>452</Paragraphs>
  <Slides>24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Segoe UI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你好，陌路人</cp:lastModifiedBy>
  <cp:revision>7</cp:revision>
  <dcterms:created xsi:type="dcterms:W3CDTF">2025-03-17T01:51:00Z</dcterms:created>
  <dcterms:modified xsi:type="dcterms:W3CDTF">2025-03-17T03:16:39Z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948F7973472D4616A00D282FE8CAA437_12</vt:lpwstr>
  </property>
  <property fmtid="{D5CDD505-2E9C-101B-9397-08002B2CF9AE}" pid="3" name="KSOProductBuildVer">
    <vt:lpwstr>2052-12.1.0.16120</vt:lpwstr>
  </property>
</Properties>
</file>