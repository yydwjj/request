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3"/>
    <p:sldId id="291" r:id="rId4"/>
    <p:sldId id="258" r:id="rId5"/>
    <p:sldId id="260" r:id="rId6"/>
    <p:sldId id="266" r:id="rId8"/>
    <p:sldId id="277" r:id="rId9"/>
    <p:sldId id="280" r:id="rId10"/>
    <p:sldId id="267" r:id="rId11"/>
    <p:sldId id="268" r:id="rId12"/>
    <p:sldId id="278" r:id="rId13"/>
    <p:sldId id="281" r:id="rId14"/>
    <p:sldId id="269" r:id="rId15"/>
    <p:sldId id="279" r:id="rId16"/>
    <p:sldId id="271" r:id="rId17"/>
    <p:sldId id="282" r:id="rId18"/>
    <p:sldId id="283" r:id="rId19"/>
    <p:sldId id="261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7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5"/>
        <p:guide pos="37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2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flipH="1">
            <a:off x="8610600" y="1253806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4"/>
            </p:custDataLst>
          </p:nvPr>
        </p:nvSpPr>
        <p:spPr>
          <a:xfrm rot="8100000" flipH="1">
            <a:off x="1561337" y="2210865"/>
            <a:ext cx="2029437" cy="383041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12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4518584" y="1886033"/>
            <a:ext cx="6724805" cy="87689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defRPr kumimoji="0" lang="zh-CN" altLang="en-US" sz="22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4200965" y="2887128"/>
            <a:ext cx="7100480" cy="12468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1" i="0" u="none" strike="noStrike" kern="1200" cap="none" spc="3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此处编辑标题</a:t>
            </a:r>
            <a:endParaRPr dirty="0">
              <a:sym typeface="+mn-ea"/>
            </a:endParaRP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8583655" y="4607241"/>
            <a:ext cx="2670175" cy="5743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9" name="矩形: 圆顶角 12"/>
          <p:cNvSpPr/>
          <p:nvPr userDrawn="1">
            <p:custDataLst>
              <p:tags r:id="rId11"/>
            </p:custDataLst>
          </p:nvPr>
        </p:nvSpPr>
        <p:spPr>
          <a:xfrm rot="18900000" flipH="1">
            <a:off x="1864646" y="998280"/>
            <a:ext cx="2029437" cy="377769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391953" y="2821599"/>
            <a:ext cx="779487" cy="12148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635" y="3260090"/>
            <a:ext cx="3695065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4176395"/>
            <a:ext cx="2851785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4176395" y="3316586"/>
            <a:ext cx="6257925" cy="16452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单击编辑标题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399681" y="1979230"/>
            <a:ext cx="4034659" cy="115189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8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9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9" name="标题"/>
          <p:cNvSpPr txBox="1">
            <a:spLocks noGrp="1"/>
          </p:cNvSpPr>
          <p:nvPr>
            <p:ph type="title" idx="6" hasCustomPrompt="1"/>
            <p:custDataLst>
              <p:tags r:id="rId9"/>
            </p:custDataLst>
          </p:nvPr>
        </p:nvSpPr>
        <p:spPr>
          <a:xfrm>
            <a:off x="837565" y="2005330"/>
            <a:ext cx="5723255" cy="138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</a:t>
            </a:r>
            <a:br>
              <a:rPr dirty="0">
                <a:sym typeface="+mn-ea"/>
              </a:rPr>
            </a:br>
            <a:r>
              <a:rPr dirty="0">
                <a:sym typeface="+mn-ea"/>
              </a:rPr>
              <a:t>编辑标题样式</a:t>
            </a:r>
            <a:endParaRPr dirty="0">
              <a:sym typeface="+mn-ea"/>
            </a:endParaRPr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837565" y="4244627"/>
            <a:ext cx="2670175" cy="5743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5.xml"/><Relationship Id="rId3" Type="http://schemas.openxmlformats.org/officeDocument/2006/relationships/image" Target="../media/image1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2.jpe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3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0.xml"/><Relationship Id="rId3" Type="http://schemas.openxmlformats.org/officeDocument/2006/relationships/image" Target="../media/image5.jpe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image" Target="../media/image6.png"/><Relationship Id="rId1" Type="http://schemas.openxmlformats.org/officeDocument/2006/relationships/tags" Target="../tags/tag12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3720465" y="2454275"/>
            <a:ext cx="8014970" cy="1599565"/>
          </a:xfrm>
        </p:spPr>
        <p:txBody>
          <a:bodyPr>
            <a:noAutofit/>
          </a:bodyPr>
          <a:lstStyle/>
          <a:p>
            <a:pPr algn="l"/>
            <a:r>
              <a:rPr lang="en-US" altLang="zh-CN" sz="4000"/>
              <a:t>UML</a:t>
            </a:r>
            <a:r>
              <a:rPr lang="zh-CN" altLang="en-US" sz="4000"/>
              <a:t>基础</a:t>
            </a:r>
            <a:r>
              <a:rPr lang="en-US" altLang="zh-CN" sz="4000"/>
              <a:t>Ⅱ</a:t>
            </a:r>
            <a:r>
              <a:rPr sz="4000"/>
              <a:t>：</a:t>
            </a:r>
            <a:r>
              <a:rPr lang="zh-CN" altLang="en-US" sz="4000"/>
              <a:t>对象图、构件图、包图</a:t>
            </a:r>
            <a:endParaRPr lang="zh-CN" altLang="en-US" sz="400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583930" y="4606925"/>
            <a:ext cx="2670175" cy="1489710"/>
          </a:xfrm>
        </p:spPr>
        <p:txBody>
          <a:bodyPr>
            <a:normAutofit fontScale="90000" lnSpcReduction="10000"/>
          </a:bodyPr>
          <a:lstStyle/>
          <a:p>
            <a:endParaRPr lang="zh-CN" altLang="en-US"/>
          </a:p>
          <a:p>
            <a:r>
              <a:rPr lang="zh-CN" altLang="en-US"/>
              <a:t>第七组：</a:t>
            </a:r>
            <a:endParaRPr lang="zh-CN" altLang="en-US"/>
          </a:p>
          <a:p>
            <a:r>
              <a:rPr lang="zh-CN" altLang="en-US"/>
              <a:t>郭伟</a:t>
            </a:r>
            <a:r>
              <a:rPr lang="zh-CN" altLang="en-US"/>
              <a:t>进、阮精特、林锴、范品璋、</a:t>
            </a:r>
            <a:r>
              <a:rPr lang="zh-CN" altLang="en-US"/>
              <a:t>麻克强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序号"/>
          <p:cNvSpPr txBox="1"/>
          <p:nvPr>
            <p:custDataLst>
              <p:tags r:id="rId2"/>
            </p:custDataLst>
          </p:nvPr>
        </p:nvSpPr>
        <p:spPr>
          <a:xfrm>
            <a:off x="6044384" y="1857719"/>
            <a:ext cx="720000" cy="72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01</a:t>
            </a:r>
            <a:endParaRPr lang="en-US" sz="2000" dirty="0">
              <a:solidFill>
                <a:srgbClr val="FFFFFF"/>
              </a:solidFill>
              <a:latin typeface="+mj-ea"/>
              <a:ea typeface="+mj-ea"/>
              <a:cs typeface="MiSans" panose="00000500000000000000" charset="-122"/>
              <a:sym typeface="+mn-ea"/>
            </a:endParaRPr>
          </a:p>
        </p:txBody>
      </p:sp>
      <p:sp>
        <p:nvSpPr>
          <p:cNvPr id="9" name="标题"/>
          <p:cNvSpPr txBox="1"/>
          <p:nvPr>
            <p:custDataLst>
              <p:tags r:id="rId3"/>
            </p:custDataLst>
          </p:nvPr>
        </p:nvSpPr>
        <p:spPr>
          <a:xfrm>
            <a:off x="6994036" y="1750152"/>
            <a:ext cx="3180714" cy="9351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rPr>
              <a:t>对象图</a:t>
            </a:r>
            <a:endParaRPr lang="zh-CN" altLang="en-US" sz="2400" b="1" spc="300" dirty="0">
              <a:solidFill>
                <a:schemeClr val="accent1"/>
              </a:solidFill>
              <a:latin typeface="+mn-ea"/>
              <a:cs typeface="MiSans" panose="00000500000000000000" charset="-122"/>
              <a:sym typeface="+mn-ea"/>
            </a:endParaRPr>
          </a:p>
        </p:txBody>
      </p:sp>
      <p:sp>
        <p:nvSpPr>
          <p:cNvPr id="12" name="序号"/>
          <p:cNvSpPr txBox="1"/>
          <p:nvPr>
            <p:custDataLst>
              <p:tags r:id="rId4"/>
            </p:custDataLst>
          </p:nvPr>
        </p:nvSpPr>
        <p:spPr>
          <a:xfrm>
            <a:off x="6044384" y="2793208"/>
            <a:ext cx="720000" cy="72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02</a:t>
            </a:r>
            <a:endParaRPr lang="en-US" sz="2000" dirty="0">
              <a:solidFill>
                <a:srgbClr val="FFFFFF"/>
              </a:solidFill>
              <a:latin typeface="+mj-ea"/>
              <a:ea typeface="+mj-ea"/>
              <a:cs typeface="MiSans" panose="00000500000000000000" charset="-122"/>
              <a:sym typeface="+mn-ea"/>
            </a:endParaRPr>
          </a:p>
        </p:txBody>
      </p:sp>
      <p:sp>
        <p:nvSpPr>
          <p:cNvPr id="13" name="标题"/>
          <p:cNvSpPr txBox="1"/>
          <p:nvPr>
            <p:custDataLst>
              <p:tags r:id="rId5"/>
            </p:custDataLst>
          </p:nvPr>
        </p:nvSpPr>
        <p:spPr>
          <a:xfrm>
            <a:off x="6994036" y="2685641"/>
            <a:ext cx="3180714" cy="9351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rPr>
              <a:t>构件图</a:t>
            </a:r>
            <a:endParaRPr lang="zh-CN" altLang="en-US" sz="2400" b="1" spc="300" dirty="0">
              <a:solidFill>
                <a:schemeClr val="accent1"/>
              </a:solidFill>
              <a:latin typeface="+mn-ea"/>
              <a:cs typeface="MiSans" panose="00000500000000000000" charset="-122"/>
              <a:sym typeface="+mn-ea"/>
            </a:endParaRPr>
          </a:p>
        </p:txBody>
      </p:sp>
      <p:sp>
        <p:nvSpPr>
          <p:cNvPr id="15" name="序号"/>
          <p:cNvSpPr txBox="1"/>
          <p:nvPr>
            <p:custDataLst>
              <p:tags r:id="rId6"/>
            </p:custDataLst>
          </p:nvPr>
        </p:nvSpPr>
        <p:spPr>
          <a:xfrm>
            <a:off x="6044384" y="3728062"/>
            <a:ext cx="720000" cy="72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03</a:t>
            </a:r>
            <a:endParaRPr lang="en-US" sz="2000" dirty="0">
              <a:solidFill>
                <a:srgbClr val="FFFFFF"/>
              </a:solidFill>
              <a:latin typeface="+mj-ea"/>
              <a:ea typeface="+mj-ea"/>
              <a:cs typeface="MiSans" panose="00000500000000000000" charset="-122"/>
              <a:sym typeface="+mn-ea"/>
            </a:endParaRPr>
          </a:p>
        </p:txBody>
      </p:sp>
      <p:sp>
        <p:nvSpPr>
          <p:cNvPr id="21" name="标题"/>
          <p:cNvSpPr txBox="1"/>
          <p:nvPr>
            <p:custDataLst>
              <p:tags r:id="rId7"/>
            </p:custDataLst>
          </p:nvPr>
        </p:nvSpPr>
        <p:spPr>
          <a:xfrm>
            <a:off x="6994036" y="3620495"/>
            <a:ext cx="3180714" cy="9351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rPr>
              <a:t>包图</a:t>
            </a:r>
            <a:endParaRPr lang="zh-CN" altLang="en-US" sz="2400" b="1" spc="300" dirty="0">
              <a:solidFill>
                <a:schemeClr val="accent1"/>
              </a:solidFill>
              <a:latin typeface="+mn-ea"/>
              <a:cs typeface="MiSans" panose="00000500000000000000" charset="-122"/>
              <a:sym typeface="+mn-ea"/>
            </a:endParaRPr>
          </a:p>
        </p:txBody>
      </p:sp>
      <p:sp>
        <p:nvSpPr>
          <p:cNvPr id="26" name="序号"/>
          <p:cNvSpPr txBox="1"/>
          <p:nvPr>
            <p:custDataLst>
              <p:tags r:id="rId8"/>
            </p:custDataLst>
          </p:nvPr>
        </p:nvSpPr>
        <p:spPr>
          <a:xfrm>
            <a:off x="6044384" y="4662916"/>
            <a:ext cx="720000" cy="72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04</a:t>
            </a:r>
            <a:endParaRPr lang="en-US" sz="2000" dirty="0">
              <a:solidFill>
                <a:srgbClr val="FFFFFF"/>
              </a:solidFill>
              <a:latin typeface="+mj-ea"/>
              <a:ea typeface="+mj-ea"/>
              <a:cs typeface="MiSans" panose="00000500000000000000" charset="-122"/>
              <a:sym typeface="+mn-ea"/>
            </a:endParaRPr>
          </a:p>
        </p:txBody>
      </p:sp>
      <p:sp>
        <p:nvSpPr>
          <p:cNvPr id="30" name="标题"/>
          <p:cNvSpPr txBox="1"/>
          <p:nvPr>
            <p:custDataLst>
              <p:tags r:id="rId9"/>
            </p:custDataLst>
          </p:nvPr>
        </p:nvSpPr>
        <p:spPr>
          <a:xfrm>
            <a:off x="6994036" y="4555349"/>
            <a:ext cx="3180714" cy="9351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rPr>
              <a:t>我们的</a:t>
            </a:r>
            <a:r>
              <a: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rPr>
              <a:t>图</a:t>
            </a:r>
            <a:endParaRPr lang="zh-CN" altLang="en-US" sz="2400" b="1" spc="300" dirty="0">
              <a:solidFill>
                <a:schemeClr val="accent1"/>
              </a:solidFill>
              <a:latin typeface="+mn-ea"/>
              <a:cs typeface="MiSans" panose="000005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t>评分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044565" y="1071245"/>
            <a:ext cx="4129405" cy="4567555"/>
            <a:chOff x="9519" y="2756"/>
            <a:chExt cx="6503" cy="7193"/>
          </a:xfrm>
        </p:grpSpPr>
        <p:sp>
          <p:nvSpPr>
            <p:cNvPr id="8" name="序号"/>
            <p:cNvSpPr txBox="1"/>
            <p:nvPr>
              <p:custDataLst>
                <p:tags r:id="rId2"/>
              </p:custDataLst>
            </p:nvPr>
          </p:nvSpPr>
          <p:spPr>
            <a:xfrm>
              <a:off x="9519" y="2926"/>
              <a:ext cx="1134" cy="113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7400000" scaled="0"/>
            </a:gradFill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2000" dirty="0">
                  <a:solidFill>
                    <a:srgbClr val="FFFFFF"/>
                  </a:solidFill>
                  <a:latin typeface="+mj-ea"/>
                  <a:ea typeface="+mj-ea"/>
                  <a:cs typeface="MiSans" panose="00000500000000000000" charset="-122"/>
                  <a:sym typeface="+mn-ea"/>
                </a:rPr>
                <a:t>4.1</a:t>
              </a:r>
              <a:endPara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9" name="标题"/>
            <p:cNvSpPr txBox="1"/>
            <p:nvPr>
              <p:custDataLst>
                <p:tags r:id="rId3"/>
              </p:custDataLst>
            </p:nvPr>
          </p:nvSpPr>
          <p:spPr>
            <a:xfrm>
              <a:off x="11014" y="2756"/>
              <a:ext cx="5009" cy="14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400" b="1" spc="300" dirty="0">
                  <a:solidFill>
                    <a:schemeClr val="accent1"/>
                  </a:solidFill>
                  <a:latin typeface="+mn-ea"/>
                  <a:cs typeface="MiSans" panose="00000500000000000000" charset="-122"/>
                  <a:sym typeface="+mn-ea"/>
                </a:rPr>
                <a:t>郭伟进</a:t>
              </a:r>
              <a:endPara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12" name="序号"/>
            <p:cNvSpPr txBox="1"/>
            <p:nvPr>
              <p:custDataLst>
                <p:tags r:id="rId4"/>
              </p:custDataLst>
            </p:nvPr>
          </p:nvSpPr>
          <p:spPr>
            <a:xfrm>
              <a:off x="9519" y="4399"/>
              <a:ext cx="1134" cy="113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7400000" scaled="0"/>
            </a:gradFill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2000" dirty="0">
                  <a:solidFill>
                    <a:srgbClr val="FFFFFF"/>
                  </a:solidFill>
                  <a:latin typeface="+mj-ea"/>
                  <a:ea typeface="+mj-ea"/>
                  <a:cs typeface="MiSans" panose="00000500000000000000" charset="-122"/>
                  <a:sym typeface="+mn-ea"/>
                </a:rPr>
                <a:t>5.0</a:t>
              </a:r>
              <a:endPara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13" name="标题"/>
            <p:cNvSpPr txBox="1"/>
            <p:nvPr>
              <p:custDataLst>
                <p:tags r:id="rId5"/>
              </p:custDataLst>
            </p:nvPr>
          </p:nvSpPr>
          <p:spPr>
            <a:xfrm>
              <a:off x="11014" y="4229"/>
              <a:ext cx="5009" cy="14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400" b="1" spc="300" dirty="0">
                  <a:solidFill>
                    <a:schemeClr val="accent1"/>
                  </a:solidFill>
                  <a:latin typeface="+mn-ea"/>
                  <a:cs typeface="MiSans" panose="00000500000000000000" charset="-122"/>
                  <a:sym typeface="+mn-ea"/>
                </a:rPr>
                <a:t>阮精特</a:t>
              </a:r>
              <a:endPara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15" name="序号"/>
            <p:cNvSpPr txBox="1"/>
            <p:nvPr>
              <p:custDataLst>
                <p:tags r:id="rId6"/>
              </p:custDataLst>
            </p:nvPr>
          </p:nvSpPr>
          <p:spPr>
            <a:xfrm>
              <a:off x="9519" y="5871"/>
              <a:ext cx="1134" cy="113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7400000" scaled="0"/>
            </a:gradFill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2000" dirty="0">
                  <a:solidFill>
                    <a:srgbClr val="FFFFFF"/>
                  </a:solidFill>
                  <a:latin typeface="+mj-ea"/>
                  <a:ea typeface="+mj-ea"/>
                  <a:cs typeface="MiSans" panose="00000500000000000000" charset="-122"/>
                  <a:sym typeface="+mn-ea"/>
                </a:rPr>
                <a:t>4.2</a:t>
              </a:r>
              <a:endPara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21" name="标题"/>
            <p:cNvSpPr txBox="1"/>
            <p:nvPr>
              <p:custDataLst>
                <p:tags r:id="rId7"/>
              </p:custDataLst>
            </p:nvPr>
          </p:nvSpPr>
          <p:spPr>
            <a:xfrm>
              <a:off x="11014" y="5702"/>
              <a:ext cx="5009" cy="14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400" b="1" spc="300" dirty="0">
                  <a:solidFill>
                    <a:schemeClr val="accent1"/>
                  </a:solidFill>
                  <a:latin typeface="+mn-ea"/>
                  <a:cs typeface="MiSans" panose="00000500000000000000" charset="-122"/>
                  <a:sym typeface="+mn-ea"/>
                </a:rPr>
                <a:t>范品樟</a:t>
              </a:r>
              <a:endPara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26" name="序号"/>
            <p:cNvSpPr txBox="1"/>
            <p:nvPr>
              <p:custDataLst>
                <p:tags r:id="rId8"/>
              </p:custDataLst>
            </p:nvPr>
          </p:nvSpPr>
          <p:spPr>
            <a:xfrm>
              <a:off x="9519" y="7343"/>
              <a:ext cx="1134" cy="113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7400000" scaled="0"/>
            </a:gradFill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2000" dirty="0">
                  <a:solidFill>
                    <a:srgbClr val="FFFFFF"/>
                  </a:solidFill>
                  <a:latin typeface="+mj-ea"/>
                  <a:ea typeface="+mj-ea"/>
                  <a:cs typeface="MiSans" panose="00000500000000000000" charset="-122"/>
                  <a:sym typeface="+mn-ea"/>
                </a:rPr>
                <a:t>4.0</a:t>
              </a:r>
              <a:endPara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30" name="标题"/>
            <p:cNvSpPr txBox="1"/>
            <p:nvPr>
              <p:custDataLst>
                <p:tags r:id="rId9"/>
              </p:custDataLst>
            </p:nvPr>
          </p:nvSpPr>
          <p:spPr>
            <a:xfrm>
              <a:off x="11014" y="7174"/>
              <a:ext cx="5009" cy="14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400" b="1" spc="300" dirty="0">
                  <a:solidFill>
                    <a:schemeClr val="accent1"/>
                  </a:solidFill>
                  <a:latin typeface="+mn-ea"/>
                  <a:cs typeface="MiSans" panose="00000500000000000000" charset="-122"/>
                  <a:sym typeface="+mn-ea"/>
                </a:rPr>
                <a:t>林锴</a:t>
              </a:r>
              <a:endPara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2" name="序号"/>
            <p:cNvSpPr txBox="1"/>
            <p:nvPr>
              <p:custDataLst>
                <p:tags r:id="rId10"/>
              </p:custDataLst>
            </p:nvPr>
          </p:nvSpPr>
          <p:spPr>
            <a:xfrm>
              <a:off x="9519" y="8646"/>
              <a:ext cx="1134" cy="113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7400000" scaled="0"/>
            </a:gradFill>
          </p:spPr>
          <p:txBody>
            <a:bodyPr wrap="none" lIns="0" tIns="0" rIns="0" bIns="0" rtlCol="0" anchor="ctr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2000" dirty="0">
                  <a:solidFill>
                    <a:srgbClr val="FFFFFF"/>
                  </a:solidFill>
                  <a:latin typeface="+mj-ea"/>
                  <a:ea typeface="+mj-ea"/>
                  <a:cs typeface="MiSans" panose="00000500000000000000" charset="-122"/>
                  <a:sym typeface="+mn-ea"/>
                </a:rPr>
                <a:t>3.9</a:t>
              </a:r>
              <a:endParaRPr lang="en-US" sz="20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3" name="标题"/>
            <p:cNvSpPr txBox="1"/>
            <p:nvPr>
              <p:custDataLst>
                <p:tags r:id="rId11"/>
              </p:custDataLst>
            </p:nvPr>
          </p:nvSpPr>
          <p:spPr>
            <a:xfrm>
              <a:off x="11014" y="8477"/>
              <a:ext cx="5009" cy="14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2400" b="1" spc="300" dirty="0">
                  <a:solidFill>
                    <a:schemeClr val="accent1"/>
                  </a:solidFill>
                  <a:latin typeface="+mn-ea"/>
                  <a:cs typeface="MiSans" panose="00000500000000000000" charset="-122"/>
                  <a:sym typeface="+mn-ea"/>
                </a:rPr>
                <a:t>麻克强</a:t>
              </a:r>
              <a:endParaRPr lang="zh-CN" altLang="en-US" sz="2400" b="1" spc="300" dirty="0">
                <a:solidFill>
                  <a:schemeClr val="accent1"/>
                </a:solidFill>
                <a:latin typeface="+mn-ea"/>
                <a:cs typeface="MiSans" panose="00000500000000000000" charset="-122"/>
                <a:sym typeface="+mn-ea"/>
              </a:endParaRPr>
            </a:p>
          </p:txBody>
        </p:sp>
      </p:grp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一、</a:t>
            </a:r>
            <a:r>
              <a:rPr lang="zh-CN" altLang="en-US"/>
              <a:t>对象图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94995" y="1522730"/>
            <a:ext cx="11293475" cy="2380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/>
              <a:t>对象图概念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/>
              <a:t>对象图是表示在某一时刻一组对象以及它们之间关系的图形。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 b="1"/>
              <a:t>对象图与类图区别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/>
              <a:t>不同在于对象图显示类的多个对象实例，而不是实际的类。一个对象图是类图的一个实例。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1116330" y="10033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简单介绍</a:t>
            </a:r>
            <a:endParaRPr lang="zh-CN" altLang="en-US" sz="2800"/>
          </a:p>
        </p:txBody>
      </p:sp>
      <p:sp>
        <p:nvSpPr>
          <p:cNvPr id="12" name="文本框 11"/>
          <p:cNvSpPr txBox="1"/>
          <p:nvPr/>
        </p:nvSpPr>
        <p:spPr>
          <a:xfrm>
            <a:off x="3502025" y="575310"/>
            <a:ext cx="8094345" cy="6451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来源：五大部分讲透</a:t>
            </a:r>
            <a:r>
              <a:rPr lang="en-US" altLang="zh-CN"/>
              <a:t>UML</a:t>
            </a:r>
            <a:r>
              <a:rPr lang="zh-CN" altLang="en-US"/>
              <a:t>对象图</a:t>
            </a:r>
            <a:r>
              <a:rPr lang="en-US" altLang="zh-CN"/>
              <a:t> - </a:t>
            </a:r>
            <a:r>
              <a:rPr lang="zh-CN" altLang="en-US"/>
              <a:t>知乎</a:t>
            </a:r>
            <a:r>
              <a:rPr lang="en-US" altLang="zh-CN"/>
              <a:t> (zhihu.com) https://zhuanlan.zhihu.com/p/372860982</a:t>
            </a:r>
            <a:endParaRPr lang="en-US" altLang="zh-CN"/>
          </a:p>
        </p:txBody>
      </p:sp>
      <p:pic>
        <p:nvPicPr>
          <p:cNvPr id="4" name="图片 4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" y="3498850"/>
            <a:ext cx="9473565" cy="32385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一、</a:t>
            </a:r>
            <a:r>
              <a:rPr lang="zh-CN" altLang="en-US"/>
              <a:t>对象图</a:t>
            </a:r>
            <a:endParaRPr lang="zh-CN" altLang="en-US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r>
              <a:rPr lang="zh-CN" altLang="en-US"/>
              <a:t>对象图中的建模元素主要有对象和链。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991235" y="2350770"/>
          <a:ext cx="9836150" cy="3917315"/>
        </p:xfrm>
        <a:graphic>
          <a:graphicData uri="http://schemas.openxmlformats.org/drawingml/2006/table">
            <a:tbl>
              <a:tblPr/>
              <a:tblGrid>
                <a:gridCol w="3538855"/>
                <a:gridCol w="6297295"/>
              </a:tblGrid>
              <a:tr h="2117090">
                <a:tc>
                  <a:txBody>
                    <a:bodyPr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</a:pPr>
                      <a:endParaRPr sz="1400" i="0">
                        <a:solidFill>
                          <a:srgbClr val="191B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1400"/>
                        </a:spcBef>
                        <a:spcAft>
                          <a:spcPts val="1400"/>
                        </a:spcAft>
                      </a:pPr>
                      <a:r>
                        <a:rPr lang="zh-CN" sz="24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对象是类的实例，是一个封装了状态和行为的实体。对象通过其类型、名称和状态区别于其他对象而存在。</a:t>
                      </a:r>
                      <a:endParaRPr lang="zh-CN" sz="24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00225">
                <a:tc>
                  <a:txBody>
                    <a:bodyPr/>
                    <a:p>
                      <a:pPr marL="0" indent="0" algn="l">
                        <a:spcBef>
                          <a:spcPts val="1400"/>
                        </a:spcBef>
                        <a:spcAft>
                          <a:spcPts val="1400"/>
                        </a:spcAft>
                      </a:pPr>
                      <a:r>
                        <a:rPr lang="en-US" altLang="zh-CN" sz="12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2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1400"/>
                        </a:spcBef>
                        <a:spcAft>
                          <a:spcPts val="1400"/>
                        </a:spcAft>
                      </a:pPr>
                      <a:r>
                        <a:rPr lang="zh-CN" sz="24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链是类之间的关联关系的实例，是两个或多个对象之间的独立连接。因此，链在对象图中的作用类似于关联关系在类图中的作用。</a:t>
                      </a:r>
                      <a:br>
                        <a:rPr lang="zh-CN" altLang="en-US" sz="24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zh-CN" sz="2000" i="0">
                          <a:solidFill>
                            <a:srgbClr val="191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在对象图中，链同样使用一根实线段来表示。</a:t>
                      </a:r>
                      <a:endParaRPr lang="zh-CN" sz="2000" i="0">
                        <a:solidFill>
                          <a:srgbClr val="191B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1397000" y="2646680"/>
            <a:ext cx="2670810" cy="15576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502025" y="575310"/>
            <a:ext cx="8094345" cy="6451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来源：五大部分讲透</a:t>
            </a:r>
            <a:r>
              <a:rPr lang="en-US" altLang="zh-CN"/>
              <a:t>UML</a:t>
            </a:r>
            <a:r>
              <a:rPr lang="zh-CN" altLang="en-US"/>
              <a:t>对象图</a:t>
            </a:r>
            <a:r>
              <a:rPr lang="en-US" altLang="zh-CN"/>
              <a:t> - </a:t>
            </a:r>
            <a:r>
              <a:rPr lang="zh-CN" altLang="en-US"/>
              <a:t>知乎</a:t>
            </a:r>
            <a:r>
              <a:rPr lang="en-US" altLang="zh-CN"/>
              <a:t> (zhihu.com) https://zhuanlan.zhihu.com/p/372860982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zh-CN" altLang="en-US"/>
              <a:t>一：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10968990" cy="1293495"/>
          </a:xfrm>
        </p:spPr>
        <p:txBody>
          <a:bodyPr>
            <a:normAutofit fontScale="80000"/>
          </a:bodyPr>
          <a:p>
            <a:r>
              <a:rPr lang="zh-CN" altLang="en-US"/>
              <a:t>在你参与的项目中，如何识别核心业务对象？这些对象的关键属性通常从哪里提取（如需求文档</a:t>
            </a:r>
            <a:r>
              <a:rPr lang="en-US" altLang="zh-CN"/>
              <a:t> / </a:t>
            </a:r>
            <a:r>
              <a:rPr lang="zh-CN" altLang="en-US"/>
              <a:t>用户故事）？你如何用对象图表示对象之间的关联（如</a:t>
            </a:r>
            <a:r>
              <a:rPr lang="en-US" altLang="zh-CN"/>
              <a:t> “</a:t>
            </a:r>
            <a:r>
              <a:rPr lang="zh-CN" altLang="en-US"/>
              <a:t>用户</a:t>
            </a:r>
            <a:r>
              <a:rPr lang="en-US" altLang="zh-CN"/>
              <a:t> - </a:t>
            </a:r>
            <a:r>
              <a:rPr lang="zh-CN" altLang="en-US"/>
              <a:t>订单</a:t>
            </a:r>
            <a:r>
              <a:rPr lang="en-US" altLang="zh-CN"/>
              <a:t> - </a:t>
            </a:r>
            <a:r>
              <a:rPr lang="zh-CN" altLang="en-US"/>
              <a:t>商品</a:t>
            </a:r>
            <a:r>
              <a:rPr lang="en-US" altLang="zh-CN"/>
              <a:t>” </a:t>
            </a:r>
            <a:r>
              <a:rPr lang="zh-CN" altLang="en-US"/>
              <a:t>的关系）？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7235" y="2413000"/>
            <a:ext cx="10026015" cy="316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▶</a:t>
            </a:r>
            <a:r>
              <a:rPr lang="en-US" altLang="zh-CN" sz="2400"/>
              <a:t> </a:t>
            </a:r>
            <a:r>
              <a:rPr lang="zh-CN" altLang="en-US" sz="2400"/>
              <a:t>参考答案</a:t>
            </a:r>
            <a:r>
              <a:rPr lang="zh-CN" altLang="en-US" sz="2400"/>
              <a:t>方向：</a:t>
            </a:r>
            <a:endParaRPr lang="zh-CN" altLang="en-US" sz="2400"/>
          </a:p>
          <a:p>
            <a:r>
              <a:rPr lang="zh-CN" altLang="en-US" sz="2400"/>
              <a:t>核心对象提取：从需求中找名词（如</a:t>
            </a:r>
            <a:r>
              <a:rPr lang="en-US" altLang="zh-CN" sz="2400"/>
              <a:t> “</a:t>
            </a:r>
            <a:r>
              <a:rPr lang="zh-CN" altLang="en-US" sz="2400"/>
              <a:t>用户</a:t>
            </a:r>
            <a:r>
              <a:rPr lang="en-US" altLang="zh-CN" sz="2400"/>
              <a:t>”“</a:t>
            </a:r>
            <a:r>
              <a:rPr lang="zh-CN" altLang="en-US" sz="2400"/>
              <a:t>订单</a:t>
            </a:r>
            <a:r>
              <a:rPr lang="en-US" altLang="zh-CN" sz="2400"/>
              <a:t>”“</a:t>
            </a:r>
            <a:r>
              <a:rPr lang="zh-CN" altLang="en-US" sz="2400"/>
              <a:t>商品</a:t>
            </a:r>
            <a:r>
              <a:rPr lang="en-US" altLang="zh-CN" sz="2400"/>
              <a:t>”</a:t>
            </a:r>
            <a:r>
              <a:rPr lang="zh-CN" altLang="en-US" sz="2400"/>
              <a:t>），属性来自需求描述（如用户的</a:t>
            </a:r>
            <a:r>
              <a:rPr lang="en-US" altLang="zh-CN" sz="2400"/>
              <a:t> “</a:t>
            </a:r>
            <a:r>
              <a:rPr lang="zh-CN" altLang="en-US" sz="2400"/>
              <a:t>账号</a:t>
            </a:r>
            <a:r>
              <a:rPr lang="en-US" altLang="zh-CN" sz="2400"/>
              <a:t>”“</a:t>
            </a:r>
            <a:r>
              <a:rPr lang="zh-CN" altLang="en-US" sz="2400"/>
              <a:t>权限</a:t>
            </a:r>
            <a:r>
              <a:rPr lang="en-US" altLang="zh-CN" sz="2400"/>
              <a:t>”</a:t>
            </a:r>
            <a:r>
              <a:rPr lang="zh-CN" altLang="en-US" sz="2400"/>
              <a:t>）。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关系表示：用箭头标注关联（如</a:t>
            </a:r>
            <a:r>
              <a:rPr lang="en-US" altLang="zh-CN" sz="2400"/>
              <a:t> “</a:t>
            </a:r>
            <a:r>
              <a:rPr lang="zh-CN" altLang="en-US" sz="2400"/>
              <a:t>用户</a:t>
            </a:r>
            <a:r>
              <a:rPr lang="en-US" altLang="en-US" sz="2400"/>
              <a:t>→</a:t>
            </a:r>
            <a:r>
              <a:rPr lang="zh-CN" altLang="en-US" sz="2400"/>
              <a:t>订单</a:t>
            </a:r>
            <a:r>
              <a:rPr lang="en-US" altLang="zh-CN" sz="2400"/>
              <a:t>” </a:t>
            </a:r>
            <a:r>
              <a:rPr lang="zh-CN" altLang="en-US" sz="2400"/>
              <a:t>表示</a:t>
            </a:r>
            <a:r>
              <a:rPr lang="en-US" altLang="zh-CN" sz="2400"/>
              <a:t> “</a:t>
            </a:r>
            <a:r>
              <a:rPr lang="zh-CN" altLang="en-US" sz="2400"/>
              <a:t>创建</a:t>
            </a:r>
            <a:r>
              <a:rPr lang="en-US" altLang="zh-CN" sz="2400"/>
              <a:t>” </a:t>
            </a:r>
            <a:r>
              <a:rPr lang="zh-CN" altLang="en-US" sz="2400"/>
              <a:t>关系），多重性（如</a:t>
            </a:r>
            <a:r>
              <a:rPr lang="en-US" altLang="zh-CN" sz="2400"/>
              <a:t> “1..*” </a:t>
            </a:r>
            <a:r>
              <a:rPr lang="zh-CN" altLang="en-US" sz="2400"/>
              <a:t>表示一个用户可创建多个订单）。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问题二</a:t>
            </a:r>
            <a:r>
              <a:rPr lang="en-US" altLang="zh-CN"/>
              <a:t>·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10800080" cy="1110615"/>
          </a:xfrm>
        </p:spPr>
        <p:txBody>
          <a:bodyPr>
            <a:normAutofit/>
          </a:bodyPr>
          <a:p>
            <a:r>
              <a:rPr lang="zh-CN" altLang="en-US"/>
              <a:t>当项目中出现多对象关联，你在对象图中如何简化表达？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7235" y="2413000"/>
            <a:ext cx="10026015" cy="316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 </a:t>
            </a:r>
            <a:r>
              <a:rPr lang="en-US" altLang="en-US" sz="2400"/>
              <a:t>▶</a:t>
            </a:r>
            <a:r>
              <a:rPr lang="en-US" altLang="zh-CN" sz="2400"/>
              <a:t> </a:t>
            </a:r>
            <a:r>
              <a:rPr lang="zh-CN" altLang="en-US" sz="2400"/>
              <a:t>参考答案</a:t>
            </a:r>
            <a:r>
              <a:rPr lang="zh-CN" altLang="en-US" sz="2400"/>
              <a:t>方向：</a:t>
            </a:r>
            <a:endParaRPr lang="zh-CN" altLang="en-US" sz="2400"/>
          </a:p>
          <a:p>
            <a:r>
              <a:rPr lang="zh-CN" altLang="en-US" sz="2400"/>
              <a:t>以课程教务系统</a:t>
            </a:r>
            <a:r>
              <a:rPr lang="zh-CN" altLang="en-US" sz="2400"/>
              <a:t>为例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添加中间对象：引入</a:t>
            </a:r>
            <a:r>
              <a:rPr lang="en-US" altLang="zh-CN" sz="2400"/>
              <a:t> “</a:t>
            </a:r>
            <a:r>
              <a:rPr lang="zh-CN" altLang="en-US" sz="2400"/>
              <a:t>选课记录</a:t>
            </a:r>
            <a:r>
              <a:rPr lang="en-US" altLang="zh-CN" sz="2400"/>
              <a:t>” </a:t>
            </a:r>
            <a:r>
              <a:rPr lang="zh-CN" altLang="en-US" sz="2400"/>
              <a:t>连接学生和课程，明确关系载体。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>
                <a:sym typeface="+mn-ea"/>
              </a:rPr>
              <a:t>标签清晰标注关系语义</a:t>
            </a:r>
            <a:r>
              <a:rPr lang="zh-CN" altLang="en-US" sz="2400"/>
              <a:t>：用动词短语（如</a:t>
            </a:r>
            <a:r>
              <a:rPr lang="en-US" altLang="zh-CN" sz="2400"/>
              <a:t> “</a:t>
            </a:r>
            <a:r>
              <a:rPr lang="zh-CN" altLang="en-US" sz="2400"/>
              <a:t>选修</a:t>
            </a:r>
            <a:r>
              <a:rPr lang="en-US" altLang="zh-CN" sz="2400"/>
              <a:t>”“</a:t>
            </a:r>
            <a:r>
              <a:rPr lang="zh-CN" altLang="en-US" sz="2400"/>
              <a:t>教授</a:t>
            </a:r>
            <a:r>
              <a:rPr lang="en-US" altLang="zh-CN" sz="2400"/>
              <a:t>”</a:t>
            </a:r>
            <a:r>
              <a:rPr lang="zh-CN" altLang="en-US" sz="2400"/>
              <a:t>）而非简单</a:t>
            </a:r>
            <a:r>
              <a:rPr lang="en-US" altLang="zh-CN" sz="2400"/>
              <a:t> “</a:t>
            </a:r>
            <a:r>
              <a:rPr lang="zh-CN" altLang="en-US" sz="2400"/>
              <a:t>关联</a:t>
            </a:r>
            <a:r>
              <a:rPr lang="en-US" altLang="zh-CN" sz="2400"/>
              <a:t>”</a:t>
            </a:r>
            <a:r>
              <a:rPr lang="zh-CN" altLang="en-US" sz="2400"/>
              <a:t>，多重性标注（如</a:t>
            </a:r>
            <a:r>
              <a:rPr lang="en-US" altLang="zh-CN" sz="2400"/>
              <a:t> “</a:t>
            </a:r>
            <a:r>
              <a:rPr lang="zh-CN" altLang="en-US" sz="2400"/>
              <a:t>学生</a:t>
            </a:r>
            <a:r>
              <a:rPr lang="en-US" altLang="en-US" sz="2400"/>
              <a:t>→</a:t>
            </a:r>
            <a:r>
              <a:rPr lang="zh-CN" altLang="en-US" sz="2400"/>
              <a:t>课程</a:t>
            </a:r>
            <a:r>
              <a:rPr lang="en-US" altLang="zh-CN" sz="2400"/>
              <a:t>” </a:t>
            </a:r>
            <a:r>
              <a:rPr lang="zh-CN" altLang="en-US" sz="2400"/>
              <a:t>标注</a:t>
            </a:r>
            <a:r>
              <a:rPr lang="en-US" altLang="zh-CN" sz="2400"/>
              <a:t> “1..*” </a:t>
            </a:r>
            <a:r>
              <a:rPr lang="zh-CN" altLang="en-US" sz="2400"/>
              <a:t>表示多选多）。</a:t>
            </a:r>
            <a:endParaRPr lang="zh-CN" altLang="en-US" sz="2400"/>
          </a:p>
          <a:p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二、</a:t>
            </a:r>
            <a:r>
              <a:rPr lang="zh-CN" altLang="en-US"/>
              <a:t>构件图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02025" y="575310"/>
            <a:ext cx="8094345" cy="7556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r>
              <a:rPr lang="zh-CN" altLang="en-US"/>
              <a:t>来源：</a:t>
            </a:r>
            <a:r>
              <a:rPr lang="en-US" altLang="zh-CN">
                <a:sym typeface="+mn-ea"/>
              </a:rPr>
              <a:t>https://blog.csdn.net/wangmei4968/article/details/22601951</a:t>
            </a:r>
            <a:endParaRPr lang="en-US" altLang="zh-CN"/>
          </a:p>
          <a:p>
            <a:r>
              <a:rPr lang="en-US" altLang="zh-CN"/>
              <a:t>(</a:t>
            </a:r>
            <a:r>
              <a:rPr lang="zh-CN" altLang="en-US"/>
              <a:t>【</a:t>
            </a:r>
            <a:r>
              <a:rPr lang="en-US" altLang="zh-CN"/>
              <a:t>UML</a:t>
            </a:r>
            <a:r>
              <a:rPr lang="zh-CN" altLang="en-US"/>
              <a:t>入门教程】</a:t>
            </a:r>
            <a:r>
              <a:rPr lang="en-US" altLang="zh-CN"/>
              <a:t>——</a:t>
            </a:r>
            <a:r>
              <a:rPr lang="zh-CN" altLang="en-US"/>
              <a:t>构件图、部署图、包图</a:t>
            </a:r>
            <a:r>
              <a:rPr lang="en-US" altLang="zh-CN"/>
              <a:t>_</a:t>
            </a:r>
            <a:r>
              <a:rPr lang="zh-CN" altLang="en-US"/>
              <a:t>构件图与包图区别</a:t>
            </a:r>
            <a:r>
              <a:rPr lang="en-US" altLang="zh-CN"/>
              <a:t>-CSDN</a:t>
            </a:r>
            <a:r>
              <a:rPr lang="zh-CN" altLang="en-US"/>
              <a:t>博客</a:t>
            </a:r>
            <a:r>
              <a:rPr lang="en-US" altLang="zh-CN"/>
              <a:t> )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33450" y="1490980"/>
            <a:ext cx="8941435" cy="9505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ts val="1500"/>
              </a:lnSpc>
              <a:spcBef>
                <a:spcPts val="1200"/>
              </a:spcBef>
              <a:spcAft>
                <a:spcPts val="400"/>
              </a:spcAft>
            </a:pPr>
            <a:r>
              <a:rPr lang="zh-CN" altLang="en-US" sz="2000" b="1" i="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构件是什么？</a:t>
            </a:r>
            <a:endParaRPr lang="zh-CN" altLang="en-US" sz="2000" b="1" i="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i="0">
                <a:solidFill>
                  <a:srgbClr val="4D4D4D"/>
                </a:solidFill>
                <a:latin typeface="Arial" panose="020B0604020202020204"/>
                <a:ea typeface="Arial" panose="020B0604020202020204"/>
              </a:rPr>
              <a:t>构件是系统的一个物理的和可替代的组成部分，该组成部分遵循并实现了一组给定的接口。</a:t>
            </a:r>
            <a:endParaRPr lang="zh-CN" altLang="en-US" sz="2000" i="0">
              <a:solidFill>
                <a:srgbClr val="4D4D4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3450" y="2661285"/>
            <a:ext cx="5080000" cy="283210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lnSpc>
                <a:spcPts val="1500"/>
              </a:lnSpc>
              <a:spcBef>
                <a:spcPts val="1200"/>
              </a:spcBef>
              <a:spcAft>
                <a:spcPts val="400"/>
              </a:spcAft>
            </a:pPr>
            <a:r>
              <a:rPr lang="zh-CN" altLang="en-US" sz="1600" b="1" i="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图符</a:t>
            </a:r>
            <a:endParaRPr lang="zh-CN" altLang="en-US" sz="1600" b="1" i="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005205" y="2995930"/>
          <a:ext cx="10018395" cy="3551555"/>
        </p:xfrm>
        <a:graphic>
          <a:graphicData uri="http://schemas.openxmlformats.org/drawingml/2006/table">
            <a:tbl>
              <a:tblPr/>
              <a:tblGrid>
                <a:gridCol w="3644265"/>
                <a:gridCol w="6374130"/>
              </a:tblGrid>
              <a:tr h="12858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构件：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是系统中遵从从同一组接口且提供其实现的物理的、可替换的部分。提供使用接口，方便软件的复用。</a:t>
                      </a:r>
                      <a:endParaRPr lang="zh-CN" sz="20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128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 </a:t>
                      </a:r>
                      <a:endParaRPr lang="en-US" alt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lang="zh-CN" sz="20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接口：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一系列的操作的集合，它指定了一个类或者一个</a:t>
                      </a:r>
                      <a:endParaRPr lang="zh-CN" sz="20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lang="zh-CN" sz="20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组件所能提供的服务。</a:t>
                      </a:r>
                      <a:endParaRPr lang="en-US" altLang="zh-CN" sz="3200" i="0">
                        <a:solidFill>
                          <a:srgbClr val="4D4D4D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5825">
                <a:tc>
                  <a:txBody>
                    <a:bodyPr/>
                    <a:p>
                      <a:pPr marL="45720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 </a:t>
                      </a:r>
                      <a:endParaRPr lang="en-US" alt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关系：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构件与对应接口关系是</a:t>
                      </a: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实现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、构件与其他接口是</a:t>
                      </a: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依赖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。构件实现的接口是</a:t>
                      </a: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示出接口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，构件使用的接口是</a:t>
                      </a:r>
                      <a:r>
                        <a:rPr lang="zh-CN" sz="2000" b="1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引入接口</a:t>
                      </a:r>
                      <a:r>
                        <a:rPr lang="zh-CN" sz="20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。</a:t>
                      </a:r>
                      <a:endParaRPr lang="zh-CN" sz="20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1762760" y="3204845"/>
            <a:ext cx="2177415" cy="104394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1762760" y="4392295"/>
            <a:ext cx="2193290" cy="11137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二、</a:t>
            </a:r>
            <a:r>
              <a:rPr lang="zh-CN" altLang="en-US"/>
              <a:t>构件图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4545" y="1628775"/>
            <a:ext cx="87858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/>
              <a:t>构件分类</a:t>
            </a:r>
            <a:endParaRPr lang="zh-CN" altLang="en-US" sz="2800" b="1"/>
          </a:p>
          <a:p>
            <a:r>
              <a:rPr lang="zh-CN" altLang="en-US" sz="2800"/>
              <a:t>源代码构件、二进制构件、可执行构件</a:t>
            </a:r>
            <a:endParaRPr lang="zh-CN" altLang="en-US" sz="2800"/>
          </a:p>
        </p:txBody>
      </p:sp>
      <p:sp>
        <p:nvSpPr>
          <p:cNvPr id="8" name="文本框 7"/>
          <p:cNvSpPr txBox="1"/>
          <p:nvPr/>
        </p:nvSpPr>
        <p:spPr>
          <a:xfrm>
            <a:off x="852170" y="3086735"/>
            <a:ext cx="9205595" cy="2766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/>
              <a:t>类和构件对比：</a:t>
            </a:r>
            <a:endParaRPr lang="zh-CN" altLang="en-US" sz="2800" b="1"/>
          </a:p>
          <a:p>
            <a:r>
              <a:rPr lang="zh-CN" altLang="en-US" sz="2800"/>
              <a:t>区别：类是逻辑抽象，构件是物理抽象。</a:t>
            </a:r>
            <a:endParaRPr lang="zh-CN" altLang="en-US" sz="2800"/>
          </a:p>
          <a:p>
            <a:r>
              <a:rPr lang="zh-CN" altLang="en-US" sz="2800"/>
              <a:t>联系：组件用来实现类的结构和动态行为。接口（类的一种变体），规定组件为外界提供服务。</a:t>
            </a:r>
            <a:r>
              <a:rPr lang="en-US" altLang="zh-CN" sz="2800"/>
              <a:t> </a:t>
            </a:r>
            <a:r>
              <a:rPr lang="zh-CN" altLang="en-US" sz="2800"/>
              <a:t>另外两者都可以参与依赖、泛化、关联、实现关系。</a:t>
            </a:r>
            <a:endParaRPr lang="zh-CN" altLang="en-US" sz="2800"/>
          </a:p>
        </p:txBody>
      </p:sp>
      <p:sp>
        <p:nvSpPr>
          <p:cNvPr id="12" name="文本框 11"/>
          <p:cNvSpPr txBox="1"/>
          <p:nvPr/>
        </p:nvSpPr>
        <p:spPr>
          <a:xfrm>
            <a:off x="3502025" y="575310"/>
            <a:ext cx="8094345" cy="7556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r>
              <a:rPr lang="zh-CN" altLang="en-US"/>
              <a:t>来源：</a:t>
            </a:r>
            <a:r>
              <a:rPr lang="en-US" altLang="zh-CN">
                <a:sym typeface="+mn-ea"/>
              </a:rPr>
              <a:t>https://blog.csdn.net/wangmei4968/article/details/22601951</a:t>
            </a:r>
            <a:endParaRPr lang="en-US" altLang="zh-CN"/>
          </a:p>
          <a:p>
            <a:r>
              <a:rPr lang="en-US" altLang="zh-CN"/>
              <a:t>(</a:t>
            </a:r>
            <a:r>
              <a:rPr lang="zh-CN" altLang="en-US"/>
              <a:t>【</a:t>
            </a:r>
            <a:r>
              <a:rPr lang="en-US" altLang="zh-CN"/>
              <a:t>UML</a:t>
            </a:r>
            <a:r>
              <a:rPr lang="zh-CN" altLang="en-US"/>
              <a:t>入门教程】</a:t>
            </a:r>
            <a:r>
              <a:rPr lang="en-US" altLang="zh-CN"/>
              <a:t>——</a:t>
            </a:r>
            <a:r>
              <a:rPr lang="zh-CN" altLang="en-US"/>
              <a:t>构件图、部署图、包图</a:t>
            </a:r>
            <a:r>
              <a:rPr lang="en-US" altLang="zh-CN"/>
              <a:t>_</a:t>
            </a:r>
            <a:r>
              <a:rPr lang="zh-CN" altLang="en-US"/>
              <a:t>构件图与包图区别</a:t>
            </a:r>
            <a:r>
              <a:rPr lang="en-US" altLang="zh-CN"/>
              <a:t>-CSDN</a:t>
            </a:r>
            <a:r>
              <a:rPr lang="zh-CN" altLang="en-US"/>
              <a:t>博客</a:t>
            </a:r>
            <a:r>
              <a:rPr lang="en-US" altLang="zh-CN"/>
              <a:t> )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zh-CN" altLang="en-US"/>
              <a:t>三：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10800080" cy="948055"/>
          </a:xfrm>
        </p:spPr>
        <p:txBody>
          <a:bodyPr>
            <a:normAutofit fontScale="90000"/>
          </a:bodyPr>
          <a:p>
            <a:r>
              <a:rPr lang="zh-CN" altLang="en-US"/>
              <a:t>当项目需要划分模块（如前后端、核心功能与工具类），你如何用构件图规划层次？不同构件之间通过什么方式交互（如</a:t>
            </a:r>
            <a:r>
              <a:rPr lang="en-US" altLang="zh-CN"/>
              <a:t> API / </a:t>
            </a:r>
            <a:r>
              <a:rPr lang="zh-CN" altLang="en-US"/>
              <a:t>函数调用）？如何避免构件间的循环依赖？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7235" y="2413000"/>
            <a:ext cx="10026015" cy="3684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▶</a:t>
            </a:r>
            <a:r>
              <a:rPr lang="en-US" altLang="zh-CN" sz="2400"/>
              <a:t> </a:t>
            </a:r>
            <a:r>
              <a:rPr lang="zh-CN" altLang="en-US" sz="2400"/>
              <a:t>参考答案</a:t>
            </a:r>
            <a:r>
              <a:rPr lang="zh-CN" altLang="en-US" sz="2400"/>
              <a:t>方向：</a:t>
            </a:r>
            <a:endParaRPr lang="zh-CN" altLang="en-US" sz="2400"/>
          </a:p>
          <a:p>
            <a:r>
              <a:rPr lang="zh-CN" altLang="en-US" sz="2400"/>
              <a:t>分层：前端构件（界面展示）、后端构件（业务逻辑）、数据库构件（数据存储）。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交互：通过</a:t>
            </a:r>
            <a:r>
              <a:rPr lang="en-US" altLang="zh-CN" sz="2400"/>
              <a:t> API </a:t>
            </a:r>
            <a:r>
              <a:rPr lang="zh-CN" altLang="en-US" sz="2400"/>
              <a:t>接口（如</a:t>
            </a:r>
            <a:r>
              <a:rPr lang="en-US" altLang="zh-CN" sz="2400"/>
              <a:t> RESTful</a:t>
            </a:r>
            <a:r>
              <a:rPr lang="zh-CN" altLang="en-US" sz="2400"/>
              <a:t>）或本地接口（如</a:t>
            </a:r>
            <a:r>
              <a:rPr lang="en-US" altLang="zh-CN" sz="2400"/>
              <a:t> Java </a:t>
            </a:r>
            <a:r>
              <a:rPr lang="zh-CN" altLang="en-US" sz="2400"/>
              <a:t>接口类），依赖关系箭头指向被调用方。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防循环：遵循</a:t>
            </a:r>
            <a:r>
              <a:rPr lang="en-US" altLang="zh-CN" sz="2400"/>
              <a:t> “</a:t>
            </a:r>
            <a:r>
              <a:rPr lang="zh-CN" altLang="en-US" sz="2400"/>
              <a:t>高层模块不依赖低层模块细节</a:t>
            </a:r>
            <a:r>
              <a:rPr lang="en-US" altLang="zh-CN" sz="2400"/>
              <a:t>”</a:t>
            </a:r>
            <a:r>
              <a:rPr lang="zh-CN" altLang="en-US" sz="2400"/>
              <a:t>，通过抽象接口解耦（如后端业务层依赖数据库接口而非具体实现）。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zh-CN" altLang="en-US"/>
              <a:t>四：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4680" y="1138555"/>
            <a:ext cx="10800080" cy="1224915"/>
          </a:xfrm>
        </p:spPr>
        <p:txBody>
          <a:bodyPr>
            <a:normAutofit/>
          </a:bodyPr>
          <a:p>
            <a:r>
              <a:rPr lang="zh-CN" altLang="en-US"/>
              <a:t>如果项目需要集成第三方工具，你在构件图中如何表示</a:t>
            </a:r>
            <a:r>
              <a:rPr lang="en-US" altLang="zh-CN"/>
              <a:t> “</a:t>
            </a:r>
            <a:r>
              <a:rPr lang="zh-CN" altLang="en-US"/>
              <a:t>外部接口构件</a:t>
            </a:r>
            <a:r>
              <a:rPr lang="en-US" altLang="zh-CN"/>
              <a:t>”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8145" y="2242185"/>
            <a:ext cx="11360785" cy="3939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▶</a:t>
            </a:r>
            <a:r>
              <a:rPr lang="en-US" altLang="zh-CN" sz="2400"/>
              <a:t> </a:t>
            </a:r>
            <a:r>
              <a:rPr lang="zh-CN" altLang="en-US" sz="2400"/>
              <a:t>参考答案</a:t>
            </a:r>
            <a:r>
              <a:rPr lang="zh-CN" altLang="en-US" sz="2400"/>
              <a:t>方向：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外部构件：单独绘制</a:t>
            </a:r>
            <a:r>
              <a:rPr lang="en-US" altLang="zh-CN" sz="2400"/>
              <a:t> “</a:t>
            </a:r>
            <a:r>
              <a:rPr lang="zh-CN" altLang="en-US" sz="2400"/>
              <a:t>第三方接口</a:t>
            </a:r>
            <a:r>
              <a:rPr lang="en-US" altLang="zh-CN" sz="2400"/>
              <a:t>” </a:t>
            </a:r>
            <a:r>
              <a:rPr lang="zh-CN" altLang="en-US" sz="2400"/>
              <a:t>构件，标注依赖的名称（如</a:t>
            </a:r>
            <a:r>
              <a:rPr lang="en-US" altLang="zh-CN" sz="2400"/>
              <a:t> “</a:t>
            </a:r>
            <a:r>
              <a:rPr lang="zh-CN" altLang="en-US" sz="2400"/>
              <a:t>支付</a:t>
            </a:r>
            <a:r>
              <a:rPr lang="en-US" altLang="zh-CN" sz="2400"/>
              <a:t> SDK”</a:t>
            </a:r>
            <a:r>
              <a:rPr lang="zh-CN" altLang="en-US" sz="2400"/>
              <a:t>）。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zh-CN" altLang="en-US"/>
              <a:t>包图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27095" y="514350"/>
            <a:ext cx="8345170" cy="6451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来源：</a:t>
            </a:r>
            <a:r>
              <a:rPr lang="en-US" altLang="zh-CN">
                <a:sym typeface="+mn-ea"/>
              </a:rPr>
              <a:t>https://blog.csdn.net/wangmei4968/article/details/22601951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（【</a:t>
            </a:r>
            <a:r>
              <a:rPr lang="en-US" altLang="zh-CN">
                <a:sym typeface="+mn-ea"/>
              </a:rPr>
              <a:t>UML</a:t>
            </a:r>
            <a:r>
              <a:rPr lang="zh-CN" altLang="en-US">
                <a:sym typeface="+mn-ea"/>
              </a:rPr>
              <a:t>入门教程】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构件图、部署图、包图</a:t>
            </a:r>
            <a:r>
              <a:rPr lang="en-US" altLang="zh-CN">
                <a:sym typeface="+mn-ea"/>
              </a:rPr>
              <a:t>_</a:t>
            </a:r>
            <a:r>
              <a:rPr lang="zh-CN" altLang="en-US">
                <a:sym typeface="+mn-ea"/>
              </a:rPr>
              <a:t>构件图与包图区别</a:t>
            </a:r>
            <a:r>
              <a:rPr lang="en-US" altLang="zh-CN">
                <a:sym typeface="+mn-ea"/>
              </a:rPr>
              <a:t>-CSDN</a:t>
            </a:r>
            <a:r>
              <a:rPr lang="zh-CN" altLang="en-US">
                <a:sym typeface="+mn-ea"/>
              </a:rPr>
              <a:t>博客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）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8835" y="1318260"/>
            <a:ext cx="98774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包图是用来干嘛的呢？</a:t>
            </a:r>
            <a:endParaRPr lang="zh-CN" altLang="en-US" b="1"/>
          </a:p>
          <a:p>
            <a:r>
              <a:rPr lang="en-US" altLang="en-US"/>
              <a:t> </a:t>
            </a:r>
            <a:endParaRPr lang="en-US" altLang="en-US"/>
          </a:p>
          <a:p>
            <a:r>
              <a:rPr lang="zh-CN" altLang="en-US"/>
              <a:t>为了简单的表示出复杂的类图，可以把类组合成包。一个包是</a:t>
            </a:r>
            <a:r>
              <a:rPr lang="en-US" altLang="zh-CN"/>
              <a:t>UML</a:t>
            </a:r>
            <a:r>
              <a:rPr lang="zh-CN" altLang="en-US"/>
              <a:t>逻辑关系的元件的集合。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835" y="2552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图符</a:t>
            </a:r>
            <a:endParaRPr lang="zh-CN" altLang="en-US" b="1"/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1072515" y="3108960"/>
          <a:ext cx="8793480" cy="2388235"/>
        </p:xfrm>
        <a:graphic>
          <a:graphicData uri="http://schemas.openxmlformats.org/drawingml/2006/table">
            <a:tbl>
              <a:tblPr/>
              <a:tblGrid>
                <a:gridCol w="4396740"/>
                <a:gridCol w="4396740"/>
              </a:tblGrid>
              <a:tr h="2388235">
                <a:tc>
                  <a:txBody>
                    <a:bodyPr/>
                    <a:p>
                      <a:pPr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包是用一个在上方带有小标签的矩形表示。</a:t>
                      </a:r>
                      <a:endParaRPr lang="zh-CN" sz="28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i="0">
                          <a:solidFill>
                            <a:srgbClr val="4D4D4D"/>
                          </a:solidFill>
                          <a:latin typeface="Arial" panose="020B0604020202020204"/>
                          <a:ea typeface="Arial" panose="020B0604020202020204"/>
                        </a:rPr>
                        <a:t>包名写在标签上或者矩形里，点画线箭头表示依赖。</a:t>
                      </a:r>
                      <a:endParaRPr lang="zh-CN" sz="2800" i="0">
                        <a:solidFill>
                          <a:srgbClr val="4D4D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804670" y="3233420"/>
            <a:ext cx="2786380" cy="1920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zh-CN" altLang="en-US"/>
              <a:t>五：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10800080" cy="1111250"/>
          </a:xfrm>
        </p:spPr>
        <p:txBody>
          <a:bodyPr>
            <a:normAutofit/>
          </a:bodyPr>
          <a:p>
            <a:r>
              <a:rPr lang="zh-CN" altLang="en-US"/>
              <a:t>在设计</a:t>
            </a:r>
            <a:r>
              <a:rPr lang="zh-CN" altLang="en-US"/>
              <a:t>你的项目时，你如何通过包图划分功能模块（如按功能</a:t>
            </a:r>
            <a:r>
              <a:rPr lang="en-US" altLang="zh-CN"/>
              <a:t> / </a:t>
            </a:r>
            <a:r>
              <a:rPr lang="zh-CN" altLang="en-US"/>
              <a:t>层</a:t>
            </a:r>
            <a:r>
              <a:rPr lang="en-US" altLang="zh-CN"/>
              <a:t> / </a:t>
            </a:r>
            <a:r>
              <a:rPr lang="zh-CN" altLang="en-US"/>
              <a:t>职责）？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7235" y="2413000"/>
            <a:ext cx="10026015" cy="316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 </a:t>
            </a:r>
            <a:r>
              <a:rPr lang="zh-CN" altLang="en-US" sz="2400"/>
              <a:t>参考答案</a:t>
            </a:r>
            <a:r>
              <a:rPr lang="zh-CN" altLang="en-US" sz="2400"/>
              <a:t>方向：</a:t>
            </a:r>
            <a:endParaRPr lang="zh-CN" altLang="en-US" sz="2400"/>
          </a:p>
          <a:p>
            <a:r>
              <a:rPr lang="zh-CN" altLang="en-US" sz="2400"/>
              <a:t>包划分原则：按功能（如</a:t>
            </a:r>
            <a:r>
              <a:rPr lang="en-US" altLang="zh-CN" sz="2400"/>
              <a:t> “</a:t>
            </a:r>
            <a:r>
              <a:rPr lang="zh-CN" altLang="en-US" sz="2400"/>
              <a:t>用户包</a:t>
            </a:r>
            <a:r>
              <a:rPr lang="en-US" altLang="zh-CN" sz="2400"/>
              <a:t>”“</a:t>
            </a:r>
            <a:r>
              <a:rPr lang="zh-CN" altLang="en-US" sz="2400"/>
              <a:t>订单包</a:t>
            </a:r>
            <a:r>
              <a:rPr lang="en-US" altLang="zh-CN" sz="2400"/>
              <a:t>”</a:t>
            </a:r>
            <a:r>
              <a:rPr lang="zh-CN" altLang="en-US" sz="2400"/>
              <a:t>）或层次（</a:t>
            </a:r>
            <a:r>
              <a:rPr lang="en-US" altLang="zh-CN" sz="2400"/>
              <a:t>“</a:t>
            </a:r>
            <a:r>
              <a:rPr lang="zh-CN" altLang="en-US" sz="2400"/>
              <a:t>接口包</a:t>
            </a:r>
            <a:r>
              <a:rPr lang="en-US" altLang="zh-CN" sz="2400"/>
              <a:t>”“</a:t>
            </a:r>
            <a:r>
              <a:rPr lang="zh-CN" altLang="en-US" sz="2400"/>
              <a:t>实现包</a:t>
            </a:r>
            <a:r>
              <a:rPr lang="en-US" altLang="zh-CN" sz="2400"/>
              <a:t>”</a:t>
            </a:r>
            <a:r>
              <a:rPr lang="zh-CN" altLang="en-US" sz="2400"/>
              <a:t>）。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依赖管理：包之间通过公开接口交互，避免直接调用内部类（如</a:t>
            </a:r>
            <a:r>
              <a:rPr lang="en-US" altLang="zh-CN" sz="2400"/>
              <a:t> “</a:t>
            </a:r>
            <a:r>
              <a:rPr lang="zh-CN" altLang="en-US" sz="2400"/>
              <a:t>订单包</a:t>
            </a:r>
            <a:r>
              <a:rPr lang="en-US" altLang="zh-CN" sz="2400"/>
              <a:t>” </a:t>
            </a:r>
            <a:r>
              <a:rPr lang="zh-CN" altLang="en-US" sz="2400"/>
              <a:t>仅依赖</a:t>
            </a:r>
            <a:r>
              <a:rPr lang="en-US" altLang="zh-CN" sz="2400"/>
              <a:t> “</a:t>
            </a:r>
            <a:r>
              <a:rPr lang="zh-CN" altLang="en-US" sz="2400"/>
              <a:t>用户包</a:t>
            </a:r>
            <a:r>
              <a:rPr lang="en-US" altLang="zh-CN" sz="2400"/>
              <a:t>” </a:t>
            </a:r>
            <a:r>
              <a:rPr lang="zh-CN" altLang="en-US" sz="2400"/>
              <a:t>的公开接口类）。</a:t>
            </a:r>
            <a:endParaRPr lang="zh-CN" altLang="en-US" sz="2400"/>
          </a:p>
          <a:p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四、我们的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1025" y="1080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仅以我们项目校务问答机器人为灵感：</a:t>
            </a:r>
            <a:endParaRPr lang="zh-CN" altLang="en-US"/>
          </a:p>
        </p:txBody>
      </p:sp>
      <p:pic>
        <p:nvPicPr>
          <p:cNvPr id="1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145" y="874395"/>
            <a:ext cx="6454140" cy="55105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62255" y="148685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、对象图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4945" y="1986280"/>
            <a:ext cx="4965065" cy="41529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对象：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用户、问题、回答、讨论帖、个人中心、知识库。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关系说明：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用户可发布问题、发起</a:t>
            </a:r>
            <a:r>
              <a:rPr lang="zh-CN" altLang="en-US" sz="280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>
                <a:latin typeface="Calibri" panose="020F0502020204030204"/>
                <a:ea typeface="宋体" panose="02010600030101010101" pitchFamily="2" charset="-122"/>
              </a:rPr>
              <a:t>/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回复讨论帖，问题与回答一一对应，讨论帖支持多用户互动。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个人中心记录用户操作历史，知识库为问题提供答案匹配支持。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62255" y="28035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、构件图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 13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4525"/>
            <a:ext cx="12139930" cy="38525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72490" y="4496435"/>
            <a:ext cx="9822815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>
                <a:latin typeface="Segoe UI" panose="020B0502040204020203"/>
                <a:ea typeface="Segoe UI" panose="020B0502040204020203"/>
              </a:rPr>
              <a:t>分层架构：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分为前端（用户界面）、后端（核心功能）、数据库（数据存储）、外部接口（第三方服务）。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>
                <a:latin typeface="Segoe UI" panose="020B0502040204020203"/>
                <a:ea typeface="Segoe UI" panose="020B0502040204020203"/>
              </a:rPr>
              <a:t>核心组件：</a:t>
            </a:r>
            <a:endParaRPr lang="zh-CN" altLang="en-US" sz="1600" b="1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前端：提供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Web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和移动端界面，支持多终端访问。 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后端：问答模块：通过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NLP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解析问题，调用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LLM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生成答案，查询本地知识库。 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讨论模块：管理用户讨论互动，支持通知和社交功能。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用户模块：处理登录认证、权限分级（学生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/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教师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/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管理员）。 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数据库：存储用户信息、问题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/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回答、讨论内容及知识库数据。 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外部接口：对接教务系统（课程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/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成绩数据）、天气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/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地图等第三方服务。 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依赖关系：前端通过 </a:t>
            </a: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API </a:t>
            </a:r>
            <a:r>
              <a:rPr lang="zh-CN" altLang="en-US" sz="1600" i="0">
                <a:latin typeface="Segoe UI" panose="020B0502040204020203"/>
                <a:ea typeface="Segoe UI" panose="020B0502040204020203"/>
              </a:rPr>
              <a:t>调用后端服务，后端操作数据库并对接外部数据源。</a:t>
            </a:r>
            <a:endParaRPr lang="zh-CN" altLang="en-US" sz="1600" i="0">
              <a:latin typeface="Segoe UI" panose="020B0502040204020203"/>
              <a:ea typeface="Segoe UI" panose="020B0502040204020203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latin typeface="Segoe UI" panose="020B0502040204020203"/>
                <a:ea typeface="Segoe UI" panose="020B0502040204020203"/>
              </a:rPr>
              <a:t> </a:t>
            </a:r>
            <a:endParaRPr lang="en-US" altLang="zh-CN" sz="1600" i="0">
              <a:latin typeface="Segoe UI" panose="020B0502040204020203"/>
              <a:ea typeface="Segoe UI" panose="020B0502040204020203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62255" y="18573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、包图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 15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2802255"/>
            <a:ext cx="9700260" cy="4030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03225" y="544830"/>
            <a:ext cx="1138491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包分层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用户界面包：包含前端交互页面（首页、提问页等），直接与用户交互。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核心功能包：分为三个子包，处理核心业务逻辑：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问答功能：解析问题、生成答案（简化为“问题解析器”“答案生成器”）。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讨论功能：管理讨论流程和通知（简化为“讨论管理器”“通知引擎”）。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用户管理：处理登录和权限（“登录认证”“权限控制器”）。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数据层包：存储用户数据和知识库（“用户数据库”“知识库数据库”）。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外部接口包：对接教务系统和第三方服务（统一简化为“教务系统对接”“第三方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API”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758440"/>
            <a:ext cx="2498725" cy="3752215"/>
          </a:xfrm>
          <a:prstGeom prst="rect">
            <a:avLst/>
          </a:prstGeom>
        </p:spPr>
        <p:txBody>
          <a:bodyPr wrap="square">
            <a:noAutofit/>
          </a:bodyPr>
          <a:p>
            <a:pPr marL="26670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依赖关系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用户界面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核心功能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核心功能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数据层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Wingdings" panose="05000000000000000000"/>
                <a:ea typeface="宋体" panose="02010600030101010101" pitchFamily="2" charset="-122"/>
              </a:rPr>
              <a:t>l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核心功能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外部接口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6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THANK YOU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第七组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6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titlestyle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31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1"/>
  <p:tag name="KSO_WM_TEMPLATE_THUMBS_INDEX" val="1、9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1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</p:tagLst>
</file>

<file path=ppt/tags/tag7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1_1*f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contentchip"/>
</p:tagLst>
</file>

<file path=ppt/tags/tag80.xml><?xml version="1.0" encoding="utf-8"?>
<p:tagLst xmlns:p="http://schemas.openxmlformats.org/presentationml/2006/main">
  <p:tag name="KSO_WM_SLIDE_ID" val="custom2023031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1"/>
  <p:tag name="KSO_WM_SLIDE_LAYOUT" val="a_b_f"/>
  <p:tag name="KSO_WM_SLIDE_LAYOUT_CNT" val="1_1_1"/>
  <p:tag name="KSO_WM_TEMPLATE_THUMBS_INDEX" val="1、9"/>
  <p:tag name="KSO_WM_SLIDE_CONTENT_AREA" val="{&quot;left&quot;:&quot;312.85&quot;,&quot;top&quot;:&quot;117.3&quot;,&quot;width&quot;:&quot;619.95&quot;,&quot;height&quot;:&quot;244.5&quot;}"/>
</p:tagLst>
</file>

<file path=ppt/tags/tag8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4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DIAGRAM_GROUP_CODE" val="l1-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311_4*l_h_i*1_1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1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311_4*l_h_i*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2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311_4*l_h_i*1_3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3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311_4*l_h_i*1_4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4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90.xml><?xml version="1.0" encoding="utf-8"?>
<p:tagLst xmlns:p="http://schemas.openxmlformats.org/presentationml/2006/main">
  <p:tag name="KSO_WM_SLIDE_ID" val="custom20230311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0311"/>
  <p:tag name="KSO_WM_SLIDE_LAYOUT" val="a_l"/>
  <p:tag name="KSO_WM_SLIDE_LAYOUT_CNT" val="1_1"/>
  <p:tag name="KSO_WM_SLIDE_TYPE" val="contents"/>
  <p:tag name="KSO_WM_SLIDE_SUBTYPE" val="diag"/>
</p:tagLst>
</file>

<file path=ppt/tags/tag9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4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DIAGRAM_GROUP_CODE" val="l1-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311_4*l_h_i*1_1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1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311_4*l_h_i*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2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311_4*l_h_i*1_3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7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3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311_4*l_h_i*1_4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4*l_h_f*1_4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311_4*l_h_i*1_4_1"/>
  <p:tag name="KSO_WM_TEMPLATE_CATEGORY" val="custom"/>
  <p:tag name="KSO_WM_TEMPLATE_INDEX" val="20230311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311"/>
  <p:tag name="KSO_WM_UNIT_LAYERLEVEL" val="1_1_1"/>
  <p:tag name="KSO_WM_TAG_VERSION" val="3.0"/>
  <p:tag name="KSO_WM_BEAUTIFY_FLAG" val=""/>
  <p:tag name="KSO_WM_DIAGRAM_GROUP_CODE" val="l1-1"/>
  <p:tag name="KSO_WM_UNIT_TYPE" val="l_h_f"/>
  <p:tag name="KSO_WM_UNIT_ID" val="custom20230311_4*l_h_f*1_4_1"/>
  <p:tag name="KSO_WM_DIAGRAM_VERSION" val="3"/>
  <p:tag name="KSO_WM_DIAGRAM_MAX_ITEMCNT" val="6"/>
  <p:tag name="KSO_WM_DIAGRAM_MIN_ITEMCNT" val="2"/>
  <p:tag name="KSO_WM_DIAGRAM_VIRTUALLY_FRAME" val="{&quot;height&quot;:474.5338990555409,&quot;left&quot;:449.8414995472825,&quot;top&quot;:32.257244094488215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102.xml><?xml version="1.0" encoding="utf-8"?>
<p:tagLst xmlns:p="http://schemas.openxmlformats.org/presentationml/2006/main">
  <p:tag name="KSO_WM_SLIDE_ID" val="custom20230311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0311"/>
  <p:tag name="KSO_WM_SLIDE_LAYOUT" val="a_l"/>
  <p:tag name="KSO_WM_SLIDE_LAYOUT_CNT" val="1_1"/>
  <p:tag name="KSO_WM_SLIDE_TYPE" val="contents"/>
  <p:tag name="KSO_WM_SLIDE_SUBTYPE" val="diag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8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1_8*f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PRESET_TEXT" val="单击此处添加文本"/>
  <p:tag name="KSO_WM_UNIT_TEXT_TYPE" val="1"/>
</p:tagLst>
</file>

<file path=ppt/tags/tag105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8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07.xml><?xml version="1.0" encoding="utf-8"?>
<p:tagLst xmlns:p="http://schemas.openxmlformats.org/presentationml/2006/main">
  <p:tag name="TABLE_ENDDRAG_ORIGIN_RECT" val="774*308"/>
  <p:tag name="TABLE_ENDDRAG_RECT" val="78*185*774*308"/>
</p:tagLst>
</file>

<file path=ppt/tags/tag108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1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8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12.xml><?xml version="1.0" encoding="utf-8"?>
<p:tagLst xmlns:p="http://schemas.openxmlformats.org/presentationml/2006/main">
  <p:tag name="TABLE_ENDDRAG_ORIGIN_RECT" val="788*284"/>
  <p:tag name="TABLE_ENDDRAG_RECT" val="79*239*788*284"/>
</p:tagLst>
</file>

<file path=ppt/tags/tag113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8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15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1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1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8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19.xml><?xml version="1.0" encoding="utf-8"?>
<p:tagLst xmlns:p="http://schemas.openxmlformats.org/presentationml/2006/main">
  <p:tag name="TABLE_ENDDRAG_ORIGIN_RECT" val="692*188"/>
  <p:tag name="TABLE_ENDDRAG_RECT" val="84*244*692*188"/>
</p:tagLst>
</file>

<file path=ppt/tags/tag120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1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8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23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1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9*a*1"/>
  <p:tag name="KSO_WM_TEMPLATE_CATEGORY" val="custom"/>
  <p:tag name="KSO_WM_TEMPLATE_INDEX" val="2023031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1_9*f*1"/>
  <p:tag name="KSO_WM_TEMPLATE_CATEGORY" val="custom"/>
  <p:tag name="KSO_WM_TEMPLATE_INDEX" val="2023031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129.xml><?xml version="1.0" encoding="utf-8"?>
<p:tagLst xmlns:p="http://schemas.openxmlformats.org/presentationml/2006/main">
  <p:tag name="commondata" val="eyJoZGlkIjoiYmJlNGMxYWVhMzA0ZWU1ODQxMDA4NWY2YjhiNTBhN2IifQ=="/>
</p:tagLst>
</file>

<file path=ppt/theme/theme1.xml><?xml version="1.0" encoding="utf-8"?>
<a:theme xmlns:a="http://schemas.openxmlformats.org/drawingml/2006/main" name="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2739</Words>
  <Application>WPS 演示</Application>
  <PresentationFormat>宽屏</PresentationFormat>
  <Paragraphs>213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MiSans</vt:lpstr>
      <vt:lpstr>微软雅黑</vt:lpstr>
      <vt:lpstr>Arial</vt:lpstr>
      <vt:lpstr>等线</vt:lpstr>
      <vt:lpstr>Calibri</vt:lpstr>
      <vt:lpstr>Segoe UI</vt:lpstr>
      <vt:lpstr>Wingdings</vt:lpstr>
      <vt:lpstr>Arial Unicode MS</vt:lpstr>
      <vt:lpstr>渐变胶囊简约风</vt:lpstr>
      <vt:lpstr>UML基础Ⅱ：对象图、构件图、包图</vt:lpstr>
      <vt:lpstr>目录</vt:lpstr>
      <vt:lpstr>评分</vt:lpstr>
      <vt:lpstr>一、对象图</vt:lpstr>
      <vt:lpstr>一、对象图</vt:lpstr>
      <vt:lpstr>问题一：</vt:lpstr>
      <vt:lpstr>问题二·：</vt:lpstr>
      <vt:lpstr>二、构件图</vt:lpstr>
      <vt:lpstr>二、构件图</vt:lpstr>
      <vt:lpstr>问题三：</vt:lpstr>
      <vt:lpstr>问题四：</vt:lpstr>
      <vt:lpstr>三、包图</vt:lpstr>
      <vt:lpstr>问题五：</vt:lpstr>
      <vt:lpstr>四、我们的图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26422</dc:creator>
  <cp:lastModifiedBy>你好，陌路人</cp:lastModifiedBy>
  <cp:revision>167</cp:revision>
  <dcterms:created xsi:type="dcterms:W3CDTF">2019-06-19T02:08:00Z</dcterms:created>
  <dcterms:modified xsi:type="dcterms:W3CDTF">2025-05-18T12:04:46Z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488FC943BEF140EBBA4ED15745AF16AF_12</vt:lpwstr>
  </property>
</Properties>
</file>